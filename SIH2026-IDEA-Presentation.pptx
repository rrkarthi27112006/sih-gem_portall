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56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000"/>
    <a:srgbClr val="9BBB59"/>
    <a:srgbClr val="39B0D4"/>
    <a:srgbClr val="727272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8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6764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13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hyperlink" Target="https://www.gepnic.gov.in/?utm_source=chatgpt.com" TargetMode="External"/><Relationship Id="rId12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e.gov.in/manuals?utm_source=chatgpt.com" TargetMode="External"/><Relationship Id="rId11" Type="http://schemas.openxmlformats.org/officeDocument/2006/relationships/hyperlink" Target="https://drive.google.com/drive/folders/1VDTopb2-VEqvT0XwKr0fR4sQ0xoDgIQN?usp=sharing" TargetMode="External"/><Relationship Id="rId5" Type="http://schemas.openxmlformats.org/officeDocument/2006/relationships/hyperlink" Target="https://www.nature.com/articles/s41598-026-50952-x?utm_source=chatgpt.com" TargetMode="External"/><Relationship Id="rId10" Type="http://schemas.openxmlformats.org/officeDocument/2006/relationships/hyperlink" Target="https://colab.research.google.com/drive/1J3m7O6dbmCJj_MRvtabbaGVy4yqqs7FY?usp=sharing" TargetMode="External"/><Relationship Id="rId4" Type="http://schemas.openxmlformats.org/officeDocument/2006/relationships/hyperlink" Target="https://assets-bg.gem.gov.in/resources/pdf/GeM_handbook.pdf?utm_source=chatgpt.com" TargetMode="External"/><Relationship Id="rId9" Type="http://schemas.openxmlformats.org/officeDocument/2006/relationships/hyperlink" Target="https://github.com/immackreya02/bidsureai-frontend-prototype.git" TargetMode="External"/><Relationship Id="rId1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7091876" y="1752600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1537019"/>
            <a:ext cx="6760590" cy="35379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ID - 26100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Title  -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Integrated Bid Compliance Verification Platform for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GeM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Procurement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Theme -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Automation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 Category - 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ID  -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Name -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BidNova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99532"/>
            <a:ext cx="12191999" cy="458467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2672662" y="-364169"/>
            <a:ext cx="6129312" cy="1143000"/>
          </a:xfrm>
        </p:spPr>
        <p:txBody>
          <a:bodyPr/>
          <a:lstStyle/>
          <a:p>
            <a:pPr eaLnBrk="1" hangingPunct="1"/>
            <a:b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IN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BIDVERIFY</a:t>
            </a:r>
            <a:br>
              <a:rPr lang="en-IN" sz="36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/>
              <a:t>(AI-Powered Compliance for Smarter </a:t>
            </a:r>
            <a:r>
              <a:rPr lang="en-IN" sz="1800" err="1"/>
              <a:t>GeM</a:t>
            </a:r>
            <a:r>
              <a:rPr lang="en-IN" sz="1800"/>
              <a:t> Procurement)</a:t>
            </a:r>
            <a:endParaRPr lang="en-US" sz="1800" b="1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lvl="0">
              <a:defRPr/>
            </a:pPr>
            <a:r>
              <a:rPr lang="en-US" sz="180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@BN - </a:t>
            </a:r>
            <a:r>
              <a:rPr lang="en-US" sz="1800" err="1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BidNova</a:t>
            </a:r>
            <a:endParaRPr lang="en-US" sz="180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3580" y="1500"/>
            <a:ext cx="1726356" cy="81515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9E84945-B0BE-3BCA-7B8E-F2EA9FB5C837}"/>
              </a:ext>
            </a:extLst>
          </p:cNvPr>
          <p:cNvSpPr/>
          <p:nvPr/>
        </p:nvSpPr>
        <p:spPr>
          <a:xfrm>
            <a:off x="107939" y="1117550"/>
            <a:ext cx="8091181" cy="800163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400" b="1" u="sng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Time-Consuming Verification</a:t>
            </a:r>
            <a:r>
              <a:rPr lang="en-IN" sz="1400" u="sng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spend hours checking every bidder document?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400" b="1" u="sng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Multiple Portal Hassle</a:t>
            </a:r>
            <a:r>
              <a:rPr lang="en-IN" sz="1400" u="sng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can bidder details be verified across different portals?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400" b="1" u="sng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Hidden Compliance Risks</a:t>
            </a:r>
            <a:r>
              <a:rPr lang="en-IN" sz="1400" u="sng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if a missing or mismatched document goes unnoticed?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815185B-4E13-17D5-E775-B5CBC02838D3}"/>
              </a:ext>
            </a:extLst>
          </p:cNvPr>
          <p:cNvSpPr/>
          <p:nvPr/>
        </p:nvSpPr>
        <p:spPr>
          <a:xfrm>
            <a:off x="107939" y="816653"/>
            <a:ext cx="2436602" cy="284683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PROBLEM EXISTING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B8458B1-7C6D-D0CE-0EA2-B8D1CE692619}"/>
              </a:ext>
            </a:extLst>
          </p:cNvPr>
          <p:cNvSpPr/>
          <p:nvPr/>
        </p:nvSpPr>
        <p:spPr>
          <a:xfrm>
            <a:off x="84456" y="2105665"/>
            <a:ext cx="2588206" cy="303358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</a:p>
        </p:txBody>
      </p:sp>
      <p:pic>
        <p:nvPicPr>
          <p:cNvPr id="13" name="Picture 12" descr="Có được bổ sung, làm rõ hồ sơ dự thầu sau đóng thầu?">
            <a:extLst>
              <a:ext uri="{FF2B5EF4-FFF2-40B4-BE49-F238E27FC236}">
                <a16:creationId xmlns:a16="http://schemas.microsoft.com/office/drawing/2014/main" id="{31E98215-E3C0-7295-8474-EC993CFCF0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9709" y="1117550"/>
            <a:ext cx="1229411" cy="800163"/>
          </a:xfrm>
          <a:prstGeom prst="rect">
            <a:avLst/>
          </a:prstGeom>
        </p:spPr>
      </p:pic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898BEA8-4416-F8A8-E160-52B206BBC9F9}"/>
              </a:ext>
            </a:extLst>
          </p:cNvPr>
          <p:cNvSpPr/>
          <p:nvPr/>
        </p:nvSpPr>
        <p:spPr>
          <a:xfrm>
            <a:off x="84458" y="4290910"/>
            <a:ext cx="4274181" cy="28047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UVP (UNIQUE VALUE PROPOSITION)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79668B4-CFFF-8260-8DBF-5A0FFEA00A10}"/>
              </a:ext>
            </a:extLst>
          </p:cNvPr>
          <p:cNvSpPr/>
          <p:nvPr/>
        </p:nvSpPr>
        <p:spPr>
          <a:xfrm>
            <a:off x="84458" y="4571380"/>
            <a:ext cx="8114662" cy="1764013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40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➢</a:t>
            </a:r>
            <a:r>
              <a:rPr lang="en-IN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b="1" u="sng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Tender-to-Trust Intelligence</a:t>
            </a:r>
            <a:r>
              <a:rPr lang="en-IN" sz="1400" u="sng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IN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Converts every tender and bidder submission into a </a:t>
            </a:r>
            <a:r>
              <a:rPr lang="en-IN" sz="1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single AI-powered compliance profile</a:t>
            </a:r>
            <a:r>
              <a:rPr lang="en-IN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faster evaluation.</a:t>
            </a:r>
          </a:p>
          <a:p>
            <a:r>
              <a:rPr lang="en-IN" sz="140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➢</a:t>
            </a:r>
            <a:r>
              <a:rPr lang="en-IN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b="1" u="sng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Clause-to-Proof Mapping : </a:t>
            </a:r>
            <a:r>
              <a:rPr lang="en-IN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links </a:t>
            </a:r>
            <a:r>
              <a:rPr lang="en-IN" sz="1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tender requirements → bidder documents → verification evidence</a:t>
            </a:r>
            <a:r>
              <a:rPr lang="en-IN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eliminating repetitive checking.</a:t>
            </a:r>
          </a:p>
          <a:p>
            <a:r>
              <a:rPr lang="en-IN" sz="140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➢</a:t>
            </a:r>
            <a:r>
              <a:rPr lang="en-IN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b="1" u="sng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Digital Bidder Trust Passport : </a:t>
            </a:r>
            <a:r>
              <a:rPr lang="en-IN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Creates a </a:t>
            </a:r>
            <a:r>
              <a:rPr lang="en-IN" sz="1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reusable compliance identity</a:t>
            </a:r>
            <a:r>
              <a:rPr lang="en-IN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with verified credentials, risk indicators and verification history.</a:t>
            </a:r>
          </a:p>
          <a:p>
            <a:r>
              <a:rPr lang="en-IN" sz="140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➢</a:t>
            </a:r>
            <a:r>
              <a:rPr lang="en-IN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b="1" u="sng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Predictive Compliance &amp; Risk : </a:t>
            </a:r>
            <a:r>
              <a:rPr lang="en-IN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Detects </a:t>
            </a:r>
            <a:r>
              <a:rPr lang="en-IN" sz="1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hidden gaps, inconsistencies and potential risks</a:t>
            </a:r>
            <a:r>
              <a:rPr lang="en-IN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before the procurement decision.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A9C571E-4D8B-28F4-1B2A-F523A3C4A229}"/>
              </a:ext>
            </a:extLst>
          </p:cNvPr>
          <p:cNvSpPr txBox="1"/>
          <p:nvPr/>
        </p:nvSpPr>
        <p:spPr>
          <a:xfrm>
            <a:off x="117771" y="2546555"/>
            <a:ext cx="7984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79C6F8B-F431-5CB9-8FFE-51156439924F}"/>
              </a:ext>
            </a:extLst>
          </p:cNvPr>
          <p:cNvSpPr/>
          <p:nvPr/>
        </p:nvSpPr>
        <p:spPr>
          <a:xfrm>
            <a:off x="84458" y="2416448"/>
            <a:ext cx="8094291" cy="1719316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5AA1A1-489E-6A3F-7D65-98EB63E8DF88}"/>
              </a:ext>
            </a:extLst>
          </p:cNvPr>
          <p:cNvSpPr txBox="1"/>
          <p:nvPr/>
        </p:nvSpPr>
        <p:spPr>
          <a:xfrm>
            <a:off x="142056" y="2384020"/>
            <a:ext cx="797909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➢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b="1" u="sng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AI-Powered Bid Verification</a:t>
            </a:r>
            <a:r>
              <a:rPr lang="en-IN" sz="1400" u="sng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analyses tender requirements and bidder documents for compliance.</a:t>
            </a:r>
          </a:p>
          <a:p>
            <a:r>
              <a:rPr lang="en-IN" sz="1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➢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b="1" u="sng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Cross-Portal Validation</a:t>
            </a:r>
            <a:r>
              <a:rPr lang="en-IN" sz="1400" u="sng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Verifies GST, PAN, Udyam and other credentials through a unified platform.</a:t>
            </a:r>
          </a:p>
          <a:p>
            <a:r>
              <a:rPr lang="en-IN" sz="1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➢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b="1" u="sng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Compliance Score</a:t>
            </a:r>
            <a:r>
              <a:rPr lang="en-IN" sz="1400" u="sng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Instantly identifies missing, mismatched and risky requirements with clear status.</a:t>
            </a:r>
          </a:p>
          <a:p>
            <a:r>
              <a:rPr lang="en-IN" sz="1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➢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b="1" u="sng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 Recommendation</a:t>
            </a:r>
            <a:r>
              <a:rPr lang="en-IN" sz="1400" u="sng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evidence-based compliance insights while keeping the final decision with the officer.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53AB1546-E79B-57ED-8E50-2786243B13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5939" y="864561"/>
            <a:ext cx="3935281" cy="551338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1CE3226-6CC8-EDCE-29ED-82B8F00F17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9437" y="137222"/>
            <a:ext cx="809932" cy="51363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6"/>
          <p:cNvSpPr/>
          <p:nvPr/>
        </p:nvSpPr>
        <p:spPr>
          <a:xfrm>
            <a:off x="777240" y="1024128"/>
            <a:ext cx="1417320" cy="548640"/>
          </a:xfrm>
          <a:prstGeom prst="pentagon">
            <a:avLst/>
          </a:prstGeom>
          <a:solidFill>
            <a:srgbClr val="162B5C"/>
          </a:solidFill>
          <a:ln/>
        </p:spPr>
        <p:txBody>
          <a:bodyPr/>
          <a:lstStyle/>
          <a:p>
            <a:endParaRPr lang="en-IN">
              <a:latin typeface="Times New Roman"/>
              <a:cs typeface="Times New Roman"/>
            </a:endParaRPr>
          </a:p>
        </p:txBody>
      </p:sp>
      <p:sp>
        <p:nvSpPr>
          <p:cNvPr id="9" name="Text 7"/>
          <p:cNvSpPr/>
          <p:nvPr/>
        </p:nvSpPr>
        <p:spPr>
          <a:xfrm>
            <a:off x="777240" y="1024128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Times New Roman"/>
                <a:ea typeface="Calibri" pitchFamily="34" charset="-122"/>
                <a:cs typeface="Times New Roman"/>
              </a:rPr>
              <a:t>Start Here</a:t>
            </a:r>
            <a:endParaRPr lang="en-US" sz="1300">
              <a:latin typeface="Times New Roman"/>
              <a:cs typeface="Times New Roman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240280" y="116128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162B5C"/>
                </a:solidFill>
                <a:latin typeface="Times New Roman"/>
                <a:ea typeface="Arial" pitchFamily="34" charset="-122"/>
                <a:cs typeface="Times New Roman"/>
              </a:rPr>
              <a:t>▶</a:t>
            </a:r>
            <a:endParaRPr lang="en-US" sz="1800">
              <a:latin typeface="Times New Roman"/>
              <a:cs typeface="Times New Roman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606040" y="1005840"/>
            <a:ext cx="2331720" cy="685800"/>
          </a:xfrm>
          <a:prstGeom prst="roundRect">
            <a:avLst>
              <a:gd name="adj" fmla="val 10667"/>
            </a:avLst>
          </a:prstGeom>
          <a:solidFill>
            <a:srgbClr val="EAF4FC"/>
          </a:solidFill>
          <a:ln w="15875">
            <a:solidFill>
              <a:srgbClr val="162B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24912" y="10058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>
                <a:solidFill>
                  <a:srgbClr val="162B5C"/>
                </a:solidFill>
                <a:latin typeface="Times New Roman"/>
                <a:ea typeface="Calibri" pitchFamily="34" charset="-122"/>
                <a:cs typeface="Times New Roman"/>
              </a:rPr>
              <a:t>Upload Tender +</a:t>
            </a:r>
            <a:endParaRPr lang="en-US" sz="1200">
              <a:latin typeface="Times New Roman"/>
              <a:cs typeface="Times New Roman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b="1">
                <a:solidFill>
                  <a:srgbClr val="162B5C"/>
                </a:solidFill>
                <a:latin typeface="Times New Roman"/>
                <a:ea typeface="Calibri" pitchFamily="34" charset="-122"/>
                <a:cs typeface="Times New Roman"/>
              </a:rPr>
              <a:t>Bidder Documents</a:t>
            </a:r>
            <a:endParaRPr lang="en-US" sz="1200">
              <a:latin typeface="Times New Roman"/>
              <a:cs typeface="Times New Roman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010912" y="116128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6B4FA0"/>
                </a:solidFill>
                <a:latin typeface="Times New Roman"/>
                <a:ea typeface="Arial" pitchFamily="34" charset="-122"/>
                <a:cs typeface="Times New Roman"/>
              </a:rPr>
              <a:t>▶</a:t>
            </a:r>
            <a:endParaRPr lang="en-US" sz="1800">
              <a:latin typeface="Times New Roman"/>
              <a:cs typeface="Times New Roman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376672" y="1005840"/>
            <a:ext cx="2880360" cy="685800"/>
          </a:xfrm>
          <a:prstGeom prst="roundRect">
            <a:avLst>
              <a:gd name="adj" fmla="val 10667"/>
            </a:avLst>
          </a:prstGeom>
          <a:solidFill>
            <a:srgbClr val="EDE7F6"/>
          </a:solidFill>
          <a:ln w="15875">
            <a:solidFill>
              <a:srgbClr val="6B4F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0" y="100584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>
                <a:solidFill>
                  <a:srgbClr val="6B4FA0"/>
                </a:solidFill>
                <a:latin typeface="Times New Roman"/>
                <a:ea typeface="Calibri" pitchFamily="34" charset="-122"/>
                <a:cs typeface="Times New Roman"/>
              </a:rPr>
              <a:t> AI Document Processing</a:t>
            </a:r>
            <a:endParaRPr lang="en-US" sz="1200">
              <a:latin typeface="Times New Roman"/>
              <a:cs typeface="Times New Roman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b="1">
                <a:solidFill>
                  <a:srgbClr val="6B4FA0"/>
                </a:solidFill>
                <a:latin typeface="Times New Roman"/>
                <a:ea typeface="Calibri" pitchFamily="34" charset="-122"/>
                <a:cs typeface="Times New Roman"/>
              </a:rPr>
              <a:t>OCR + LLM + RAG</a:t>
            </a:r>
            <a:endParaRPr lang="en-US" sz="1200">
              <a:latin typeface="Times New Roman"/>
              <a:cs typeface="Times New Roman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412480" y="932688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spcAft>
                <a:spcPts val="200"/>
              </a:spcAft>
              <a:buSzPct val="100000"/>
              <a:buChar char="•"/>
            </a:pPr>
            <a:r>
              <a:rPr lang="en-US" sz="1000">
                <a:solidFill>
                  <a:srgbClr val="162B5C"/>
                </a:solidFill>
                <a:latin typeface="Times New Roman"/>
                <a:ea typeface="Calibri" pitchFamily="34" charset="-122"/>
                <a:cs typeface="Times New Roman"/>
              </a:rPr>
              <a:t>Tender clauses</a:t>
            </a:r>
            <a:endParaRPr lang="en-US" sz="1000">
              <a:latin typeface="Times New Roman"/>
              <a:cs typeface="Times New Roman"/>
            </a:endParaRPr>
          </a:p>
          <a:p>
            <a:pPr marL="342900" indent="-342900" algn="l">
              <a:spcAft>
                <a:spcPts val="200"/>
              </a:spcAft>
              <a:buSzPct val="100000"/>
              <a:buChar char="•"/>
            </a:pPr>
            <a:r>
              <a:rPr lang="en-US" sz="1000">
                <a:solidFill>
                  <a:srgbClr val="162B5C"/>
                </a:solidFill>
                <a:latin typeface="Times New Roman"/>
                <a:ea typeface="Calibri" pitchFamily="34" charset="-122"/>
                <a:cs typeface="Times New Roman"/>
              </a:rPr>
              <a:t>Eligibility criteria</a:t>
            </a:r>
            <a:endParaRPr lang="en-US" sz="1000">
              <a:latin typeface="Times New Roman"/>
              <a:cs typeface="Times New Roman"/>
            </a:endParaRPr>
          </a:p>
          <a:p>
            <a:pPr marL="342900" indent="-342900" algn="l">
              <a:spcAft>
                <a:spcPts val="200"/>
              </a:spcAft>
              <a:buSzPct val="100000"/>
              <a:buChar char="•"/>
            </a:pPr>
            <a:r>
              <a:rPr lang="en-US" sz="1000">
                <a:solidFill>
                  <a:srgbClr val="162B5C"/>
                </a:solidFill>
                <a:latin typeface="Times New Roman"/>
                <a:ea typeface="Calibri" pitchFamily="34" charset="-122"/>
                <a:cs typeface="Times New Roman"/>
              </a:rPr>
              <a:t>Bidder details</a:t>
            </a:r>
            <a:endParaRPr lang="en-US" sz="1000">
              <a:latin typeface="Times New Roman"/>
              <a:cs typeface="Times New Roman"/>
            </a:endParaRPr>
          </a:p>
          <a:p>
            <a:pPr marL="342900" indent="-342900" algn="l">
              <a:spcAft>
                <a:spcPts val="200"/>
              </a:spcAft>
              <a:buSzPct val="100000"/>
              <a:buChar char="•"/>
            </a:pPr>
            <a:r>
              <a:rPr lang="en-US" sz="1000">
                <a:solidFill>
                  <a:srgbClr val="162B5C"/>
                </a:solidFill>
                <a:latin typeface="Times New Roman"/>
                <a:ea typeface="Calibri" pitchFamily="34" charset="-122"/>
                <a:cs typeface="Times New Roman"/>
              </a:rPr>
              <a:t>Required documents</a:t>
            </a:r>
            <a:endParaRPr lang="en-US" sz="1000">
              <a:latin typeface="Times New Roman"/>
              <a:cs typeface="Times New Roman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611880" y="1709928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62B5C"/>
                </a:solidFill>
                <a:latin typeface="Times New Roman"/>
                <a:ea typeface="Arial" pitchFamily="34" charset="-122"/>
                <a:cs typeface="Times New Roman"/>
              </a:rPr>
              <a:t>▼</a:t>
            </a:r>
            <a:endParaRPr lang="en-US" sz="1200">
              <a:latin typeface="Times New Roman"/>
              <a:cs typeface="Times New Roman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656832" y="1709928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62B5C"/>
                </a:solidFill>
                <a:latin typeface="Times New Roman"/>
                <a:ea typeface="Arial" pitchFamily="34" charset="-122"/>
                <a:cs typeface="Times New Roman"/>
              </a:rPr>
              <a:t>▼</a:t>
            </a:r>
            <a:endParaRPr lang="en-US" sz="1200">
              <a:latin typeface="Times New Roman"/>
              <a:cs typeface="Times New Roman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606040" y="1847088"/>
            <a:ext cx="6309360" cy="384048"/>
          </a:xfrm>
          <a:prstGeom prst="roundRect">
            <a:avLst>
              <a:gd name="adj" fmla="val 50000"/>
            </a:avLst>
          </a:prstGeom>
          <a:solidFill>
            <a:srgbClr val="162B5C"/>
          </a:solidFill>
          <a:ln/>
        </p:spPr>
      </p:sp>
      <p:sp>
        <p:nvSpPr>
          <p:cNvPr id="20" name="Text 18"/>
          <p:cNvSpPr/>
          <p:nvPr/>
        </p:nvSpPr>
        <p:spPr>
          <a:xfrm>
            <a:off x="2606040" y="1847088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Times New Roman"/>
                <a:ea typeface="Calibri" pitchFamily="34" charset="-122"/>
                <a:cs typeface="Times New Roman"/>
              </a:rPr>
              <a:t>  What Needs to be Verified?</a:t>
            </a:r>
            <a:endParaRPr lang="en-US" sz="1500">
              <a:latin typeface="Times New Roman"/>
              <a:cs typeface="Times New Roman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2016252" y="219456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62B5C"/>
                </a:solidFill>
                <a:latin typeface="Times New Roman"/>
                <a:ea typeface="Arial" pitchFamily="34" charset="-122"/>
                <a:cs typeface="Times New Roman"/>
              </a:rPr>
              <a:t>▼</a:t>
            </a:r>
            <a:endParaRPr lang="en-US" sz="1200">
              <a:latin typeface="Times New Roman"/>
              <a:cs typeface="Times New Roman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957316" y="219456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62B5C"/>
                </a:solidFill>
                <a:latin typeface="Times New Roman"/>
                <a:ea typeface="Arial" pitchFamily="34" charset="-122"/>
                <a:cs typeface="Times New Roman"/>
              </a:rPr>
              <a:t>▼</a:t>
            </a:r>
            <a:endParaRPr lang="en-US" sz="1200">
              <a:latin typeface="Times New Roman"/>
              <a:cs typeface="Times New Roman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898380" y="219456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62B5C"/>
                </a:solidFill>
                <a:latin typeface="Times New Roman"/>
                <a:ea typeface="Arial" pitchFamily="34" charset="-122"/>
                <a:cs typeface="Times New Roman"/>
              </a:rPr>
              <a:t>▼</a:t>
            </a:r>
            <a:endParaRPr lang="en-US" sz="1200">
              <a:latin typeface="Times New Roman"/>
              <a:cs typeface="Times New Roman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274320" y="2331720"/>
            <a:ext cx="3758184" cy="3291840"/>
          </a:xfrm>
          <a:prstGeom prst="roundRect">
            <a:avLst>
              <a:gd name="adj" fmla="val 2222"/>
            </a:avLst>
          </a:prstGeom>
          <a:solidFill>
            <a:srgbClr val="FFF3E9"/>
          </a:solidFill>
          <a:ln w="12700">
            <a:solidFill>
              <a:srgbClr val="E8720C"/>
            </a:solidFill>
            <a:prstDash val="sysDot"/>
          </a:ln>
        </p:spPr>
      </p:sp>
      <p:sp>
        <p:nvSpPr>
          <p:cNvPr id="25" name="Shape 23"/>
          <p:cNvSpPr/>
          <p:nvPr/>
        </p:nvSpPr>
        <p:spPr>
          <a:xfrm>
            <a:off x="274320" y="2331720"/>
            <a:ext cx="3758184" cy="502920"/>
          </a:xfrm>
          <a:prstGeom prst="roundRect">
            <a:avLst>
              <a:gd name="adj" fmla="val 14545"/>
            </a:avLst>
          </a:prstGeom>
          <a:solidFill>
            <a:srgbClr val="E8720C"/>
          </a:solidFill>
          <a:ln/>
        </p:spPr>
      </p:sp>
      <p:sp>
        <p:nvSpPr>
          <p:cNvPr id="26" name="Text 24"/>
          <p:cNvSpPr/>
          <p:nvPr/>
        </p:nvSpPr>
        <p:spPr>
          <a:xfrm>
            <a:off x="411480" y="2331720"/>
            <a:ext cx="3483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>
                <a:solidFill>
                  <a:srgbClr val="FFFFFF"/>
                </a:solidFill>
                <a:latin typeface="Times New Roman"/>
                <a:ea typeface="Calibri" pitchFamily="34" charset="-122"/>
                <a:cs typeface="Times New Roman"/>
              </a:rPr>
              <a:t>                                         Mode 1
</a:t>
            </a:r>
            <a:r>
              <a:rPr lang="en-US" sz="1350" b="1">
                <a:solidFill>
                  <a:srgbClr val="FFFFFF"/>
                </a:solidFill>
                <a:latin typeface="Times New Roman"/>
                <a:ea typeface="Calibri" pitchFamily="34" charset="-122"/>
                <a:cs typeface="Times New Roman"/>
              </a:rPr>
              <a:t>DOCUMENT VERIFICATION</a:t>
            </a:r>
            <a:endParaRPr lang="en-US" sz="1100">
              <a:latin typeface="Times New Roman"/>
              <a:cs typeface="Times New Roman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11480" y="2880360"/>
            <a:ext cx="3483864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E8720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1208" y="2880360"/>
            <a:ext cx="3264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>
                <a:solidFill>
                  <a:srgbClr val="000000"/>
                </a:solidFill>
                <a:latin typeface="Times New Roman"/>
                <a:ea typeface="Calibri" pitchFamily="34" charset="-122"/>
                <a:cs typeface="Times New Roman"/>
              </a:rPr>
              <a:t> </a:t>
            </a:r>
            <a:r>
              <a:rPr lang="en-US" sz="1100" b="1">
                <a:solidFill>
                  <a:srgbClr val="162B5C"/>
                </a:solidFill>
                <a:latin typeface="Times New Roman"/>
                <a:ea typeface="Calibri" pitchFamily="34" charset="-122"/>
                <a:cs typeface="Times New Roman"/>
              </a:rPr>
              <a:t>Upload Bidder Documents</a:t>
            </a:r>
            <a:endParaRPr lang="en-US" sz="1300">
              <a:latin typeface="Times New Roman"/>
              <a:cs typeface="Times New Roman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2043684" y="3172968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E8720C"/>
                </a:solidFill>
                <a:latin typeface="Times New Roman"/>
                <a:ea typeface="Arial" pitchFamily="34" charset="-122"/>
                <a:cs typeface="Times New Roman"/>
              </a:rPr>
              <a:t>▼</a:t>
            </a:r>
            <a:endParaRPr lang="en-US" sz="1000">
              <a:latin typeface="Times New Roman"/>
              <a:cs typeface="Times New Roman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11480" y="3264408"/>
            <a:ext cx="3483864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E8720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7784" y="3264408"/>
            <a:ext cx="32644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162B5C"/>
                </a:solidFill>
                <a:latin typeface="Times New Roman"/>
                <a:ea typeface="Calibri" pitchFamily="34" charset="-122"/>
                <a:cs typeface="Times New Roman"/>
              </a:rPr>
              <a:t>OCR + AI Extraction</a:t>
            </a:r>
            <a:endParaRPr lang="en-US" sz="1100">
              <a:latin typeface="Times New Roman"/>
              <a:cs typeface="Times New Roman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2043684" y="3557016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E8720C"/>
                </a:solidFill>
                <a:latin typeface="Times New Roman"/>
                <a:ea typeface="Arial" pitchFamily="34" charset="-122"/>
                <a:cs typeface="Times New Roman"/>
              </a:rPr>
              <a:t>▼</a:t>
            </a:r>
            <a:endParaRPr lang="en-US" sz="1000">
              <a:latin typeface="Times New Roman"/>
              <a:cs typeface="Times New Roman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411480" y="3648456"/>
            <a:ext cx="3483864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8720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1208" y="3648456"/>
            <a:ext cx="3264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>
                <a:solidFill>
                  <a:srgbClr val="000000"/>
                </a:solidFill>
                <a:latin typeface="Times New Roman"/>
                <a:ea typeface="Calibri" pitchFamily="34" charset="-122"/>
                <a:cs typeface="Times New Roman"/>
              </a:rPr>
              <a:t>  </a:t>
            </a:r>
            <a:r>
              <a:rPr lang="en-US" sz="1050" b="1">
                <a:solidFill>
                  <a:srgbClr val="162B5C"/>
                </a:solidFill>
                <a:latin typeface="Times New Roman"/>
                <a:ea typeface="Calibri" pitchFamily="34" charset="-122"/>
                <a:cs typeface="Times New Roman"/>
              </a:rPr>
              <a:t>Extract GST / PAN / Udyam /</a:t>
            </a:r>
            <a:endParaRPr lang="en-US" sz="1300">
              <a:latin typeface="Times New Roman"/>
              <a:cs typeface="Times New Roman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sz="1050" b="1">
                <a:solidFill>
                  <a:srgbClr val="162B5C"/>
                </a:solidFill>
                <a:latin typeface="Times New Roman"/>
                <a:ea typeface="Calibri" pitchFamily="34" charset="-122"/>
                <a:cs typeface="Times New Roman"/>
              </a:rPr>
              <a:t>Certificates</a:t>
            </a:r>
            <a:endParaRPr lang="en-US" sz="1300">
              <a:latin typeface="Times New Roman"/>
              <a:cs typeface="Times New Roman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2043684" y="4032504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E8720C"/>
                </a:solidFill>
                <a:latin typeface="Times New Roman"/>
                <a:ea typeface="Arial" pitchFamily="34" charset="-122"/>
                <a:cs typeface="Times New Roman"/>
              </a:rPr>
              <a:t>▼</a:t>
            </a:r>
            <a:endParaRPr lang="en-US" sz="1000">
              <a:latin typeface="Times New Roman"/>
              <a:cs typeface="Times New Roman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411480" y="4123944"/>
            <a:ext cx="3483864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E8720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1208" y="4123944"/>
            <a:ext cx="3264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>
                <a:solidFill>
                  <a:srgbClr val="000000"/>
                </a:solidFill>
                <a:latin typeface="Times New Roman"/>
                <a:ea typeface="Calibri" pitchFamily="34" charset="-122"/>
                <a:cs typeface="Times New Roman"/>
              </a:rPr>
              <a:t> </a:t>
            </a:r>
            <a:r>
              <a:rPr lang="en-US" sz="1100" b="1">
                <a:solidFill>
                  <a:srgbClr val="162B5C"/>
                </a:solidFill>
                <a:latin typeface="Times New Roman"/>
                <a:ea typeface="Calibri" pitchFamily="34" charset="-122"/>
                <a:cs typeface="Times New Roman"/>
              </a:rPr>
              <a:t>Validate Information</a:t>
            </a:r>
            <a:endParaRPr lang="en-US" sz="1300">
              <a:latin typeface="Times New Roman"/>
              <a:cs typeface="Times New Roman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2043684" y="4416552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E8720C"/>
                </a:solidFill>
                <a:latin typeface="Times New Roman"/>
                <a:ea typeface="Arial" pitchFamily="34" charset="-122"/>
                <a:cs typeface="Times New Roman"/>
              </a:rPr>
              <a:t>▼</a:t>
            </a:r>
            <a:endParaRPr lang="en-US" sz="1000">
              <a:latin typeface="Times New Roman"/>
              <a:cs typeface="Times New Roman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411480" y="4507992"/>
            <a:ext cx="3483864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8720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1208" y="4553712"/>
            <a:ext cx="3264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162B5C"/>
                </a:solidFill>
                <a:latin typeface="Times New Roman"/>
                <a:ea typeface="Calibri" pitchFamily="34" charset="-122"/>
                <a:cs typeface="Times New Roman"/>
              </a:rPr>
              <a:t>  Document Status</a:t>
            </a:r>
            <a:endParaRPr lang="en-US" sz="1100">
              <a:latin typeface="Times New Roman"/>
              <a:cs typeface="Times New Roman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521208" y="4864608"/>
            <a:ext cx="1039368" cy="384048"/>
          </a:xfrm>
          <a:prstGeom prst="roundRect">
            <a:avLst>
              <a:gd name="adj" fmla="val 50000"/>
            </a:avLst>
          </a:prstGeom>
          <a:solidFill>
            <a:srgbClr val="3FAE58"/>
          </a:solidFill>
          <a:ln/>
        </p:spPr>
      </p:sp>
      <p:sp>
        <p:nvSpPr>
          <p:cNvPr id="44" name="Text 42"/>
          <p:cNvSpPr/>
          <p:nvPr/>
        </p:nvSpPr>
        <p:spPr>
          <a:xfrm>
            <a:off x="521208" y="4864608"/>
            <a:ext cx="1039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Times New Roman"/>
                <a:ea typeface="Calibri" pitchFamily="34" charset="-122"/>
                <a:cs typeface="Times New Roman"/>
              </a:rPr>
              <a:t>✓ Valid</a:t>
            </a:r>
            <a:endParaRPr lang="en-US" sz="950">
              <a:latin typeface="Times New Roman"/>
              <a:cs typeface="Times New Roman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1633728" y="4864608"/>
            <a:ext cx="1039368" cy="384048"/>
          </a:xfrm>
          <a:prstGeom prst="roundRect">
            <a:avLst>
              <a:gd name="adj" fmla="val 50000"/>
            </a:avLst>
          </a:prstGeom>
          <a:solidFill>
            <a:srgbClr val="EFA53A"/>
          </a:solidFill>
          <a:ln/>
        </p:spPr>
      </p:sp>
      <p:sp>
        <p:nvSpPr>
          <p:cNvPr id="46" name="Text 44"/>
          <p:cNvSpPr/>
          <p:nvPr/>
        </p:nvSpPr>
        <p:spPr>
          <a:xfrm>
            <a:off x="1633728" y="4864608"/>
            <a:ext cx="1039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Times New Roman"/>
                <a:ea typeface="Calibri" pitchFamily="34" charset="-122"/>
                <a:cs typeface="Times New Roman"/>
              </a:rPr>
              <a:t>⚠ Missing</a:t>
            </a:r>
            <a:endParaRPr lang="en-US" sz="950">
              <a:latin typeface="Times New Roman"/>
              <a:cs typeface="Times New Roman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2746248" y="4864608"/>
            <a:ext cx="1039368" cy="384048"/>
          </a:xfrm>
          <a:prstGeom prst="roundRect">
            <a:avLst>
              <a:gd name="adj" fmla="val 50000"/>
            </a:avLst>
          </a:prstGeom>
          <a:solidFill>
            <a:srgbClr val="E14B4B"/>
          </a:solidFill>
          <a:ln/>
        </p:spPr>
      </p:sp>
      <p:sp>
        <p:nvSpPr>
          <p:cNvPr id="48" name="Text 46"/>
          <p:cNvSpPr/>
          <p:nvPr/>
        </p:nvSpPr>
        <p:spPr>
          <a:xfrm>
            <a:off x="2746248" y="4864608"/>
            <a:ext cx="1039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Times New Roman"/>
                <a:ea typeface="Calibri" pitchFamily="34" charset="-122"/>
                <a:cs typeface="Times New Roman"/>
              </a:rPr>
              <a:t>✗ Mismatch</a:t>
            </a:r>
            <a:endParaRPr lang="en-US" sz="950">
              <a:latin typeface="Times New Roman"/>
              <a:cs typeface="Times New Roman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4215384" y="2331720"/>
            <a:ext cx="3758184" cy="3291840"/>
          </a:xfrm>
          <a:prstGeom prst="roundRect">
            <a:avLst>
              <a:gd name="adj" fmla="val 2222"/>
            </a:avLst>
          </a:prstGeom>
          <a:solidFill>
            <a:srgbClr val="EAF4FC"/>
          </a:solidFill>
          <a:ln w="12700">
            <a:solidFill>
              <a:srgbClr val="1C7FC4"/>
            </a:solidFill>
            <a:prstDash val="sysDot"/>
          </a:ln>
        </p:spPr>
      </p:sp>
      <p:sp>
        <p:nvSpPr>
          <p:cNvPr id="50" name="Shape 48"/>
          <p:cNvSpPr/>
          <p:nvPr/>
        </p:nvSpPr>
        <p:spPr>
          <a:xfrm>
            <a:off x="4215384" y="2331720"/>
            <a:ext cx="3758184" cy="502920"/>
          </a:xfrm>
          <a:prstGeom prst="roundRect">
            <a:avLst>
              <a:gd name="adj" fmla="val 14545"/>
            </a:avLst>
          </a:prstGeom>
          <a:solidFill>
            <a:srgbClr val="1C7FC4"/>
          </a:solidFill>
          <a:ln/>
        </p:spPr>
      </p:sp>
      <p:sp>
        <p:nvSpPr>
          <p:cNvPr id="51" name="Text 49"/>
          <p:cNvSpPr/>
          <p:nvPr/>
        </p:nvSpPr>
        <p:spPr>
          <a:xfrm>
            <a:off x="4352544" y="2331720"/>
            <a:ext cx="3483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>
                <a:solidFill>
                  <a:srgbClr val="FFFFFF"/>
                </a:solidFill>
                <a:latin typeface="Times New Roman"/>
                <a:ea typeface="Calibri" pitchFamily="34" charset="-122"/>
                <a:cs typeface="Times New Roman"/>
              </a:rPr>
              <a:t>                                           Mode 2
</a:t>
            </a:r>
            <a:r>
              <a:rPr lang="en-US" sz="1350" b="1">
                <a:solidFill>
                  <a:srgbClr val="FFFFFF"/>
                </a:solidFill>
                <a:latin typeface="Times New Roman"/>
                <a:ea typeface="Calibri" pitchFamily="34" charset="-122"/>
                <a:cs typeface="Times New Roman"/>
              </a:rPr>
              <a:t>PORTAL CROSS-VERIFICATION</a:t>
            </a:r>
            <a:endParaRPr lang="en-US" sz="1100">
              <a:latin typeface="Times New Roman"/>
              <a:cs typeface="Times New Roman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4352544" y="2880360"/>
            <a:ext cx="3483864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1C7FC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462272" y="2880360"/>
            <a:ext cx="3264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>
                <a:solidFill>
                  <a:srgbClr val="162B5C"/>
                </a:solidFill>
                <a:latin typeface="Times New Roman"/>
                <a:ea typeface="Calibri" pitchFamily="34" charset="-122"/>
                <a:cs typeface="Times New Roman"/>
              </a:rPr>
              <a:t>Extract Bidder Details</a:t>
            </a:r>
            <a:endParaRPr lang="en-US" sz="1300">
              <a:latin typeface="Times New Roman"/>
              <a:cs typeface="Times New Roman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5984748" y="3172968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C7FC4"/>
                </a:solidFill>
                <a:latin typeface="Times New Roman"/>
                <a:ea typeface="Arial" pitchFamily="34" charset="-122"/>
                <a:cs typeface="Times New Roman"/>
              </a:rPr>
              <a:t>▼</a:t>
            </a:r>
            <a:endParaRPr lang="en-US" sz="1000">
              <a:latin typeface="Times New Roman"/>
              <a:cs typeface="Times New Roman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4352544" y="3264408"/>
            <a:ext cx="3483864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1C7FC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462272" y="3264408"/>
            <a:ext cx="3264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>
                <a:solidFill>
                  <a:srgbClr val="000000"/>
                </a:solidFill>
                <a:latin typeface="Times New Roman"/>
                <a:ea typeface="Calibri" pitchFamily="34" charset="-122"/>
                <a:cs typeface="Times New Roman"/>
              </a:rPr>
              <a:t> </a:t>
            </a:r>
            <a:r>
              <a:rPr lang="en-US" sz="1050" b="1">
                <a:solidFill>
                  <a:srgbClr val="162B5C"/>
                </a:solidFill>
                <a:latin typeface="Times New Roman"/>
                <a:ea typeface="Calibri" pitchFamily="34" charset="-122"/>
                <a:cs typeface="Times New Roman"/>
              </a:rPr>
              <a:t>Query Authorized</a:t>
            </a:r>
            <a:endParaRPr lang="en-US" sz="1300">
              <a:latin typeface="Times New Roman"/>
              <a:cs typeface="Times New Roman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sz="1050" b="1">
                <a:solidFill>
                  <a:srgbClr val="162B5C"/>
                </a:solidFill>
                <a:latin typeface="Times New Roman"/>
                <a:ea typeface="Calibri" pitchFamily="34" charset="-122"/>
                <a:cs typeface="Times New Roman"/>
              </a:rPr>
              <a:t>Government Source</a:t>
            </a:r>
            <a:endParaRPr lang="en-US" sz="1300">
              <a:latin typeface="Times New Roman"/>
              <a:cs typeface="Times New Roman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5984748" y="3648456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C7FC4"/>
                </a:solidFill>
                <a:latin typeface="Times New Roman"/>
                <a:ea typeface="Arial" pitchFamily="34" charset="-122"/>
                <a:cs typeface="Times New Roman"/>
              </a:rPr>
              <a:t>▼</a:t>
            </a:r>
            <a:endParaRPr lang="en-US" sz="1000">
              <a:latin typeface="Times New Roman"/>
              <a:cs typeface="Times New Roman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4352544" y="3739896"/>
            <a:ext cx="3483864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1C7FC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462272" y="3739896"/>
            <a:ext cx="3264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>
                <a:solidFill>
                  <a:srgbClr val="000000"/>
                </a:solidFill>
                <a:latin typeface="Times New Roman"/>
                <a:ea typeface="Calibri" pitchFamily="34" charset="-122"/>
                <a:cs typeface="Times New Roman"/>
              </a:rPr>
              <a:t>  </a:t>
            </a:r>
            <a:r>
              <a:rPr lang="en-US" sz="1100" b="1">
                <a:solidFill>
                  <a:srgbClr val="162B5C"/>
                </a:solidFill>
                <a:latin typeface="Times New Roman"/>
                <a:ea typeface="Calibri" pitchFamily="34" charset="-122"/>
                <a:cs typeface="Times New Roman"/>
              </a:rPr>
              <a:t>Retrieve Official Data</a:t>
            </a:r>
            <a:endParaRPr lang="en-US" sz="1300">
              <a:latin typeface="Times New Roman"/>
              <a:cs typeface="Times New Roman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5984748" y="4032504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C7FC4"/>
                </a:solidFill>
                <a:latin typeface="Times New Roman"/>
                <a:ea typeface="Arial" pitchFamily="34" charset="-122"/>
                <a:cs typeface="Times New Roman"/>
              </a:rPr>
              <a:t>▼</a:t>
            </a:r>
            <a:endParaRPr lang="en-US" sz="1000">
              <a:latin typeface="Times New Roman"/>
              <a:cs typeface="Times New Roman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4352544" y="4123944"/>
            <a:ext cx="3483864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1C7FC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462272" y="4123944"/>
            <a:ext cx="3264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>
                <a:solidFill>
                  <a:srgbClr val="000000"/>
                </a:solidFill>
                <a:latin typeface="Times New Roman"/>
                <a:ea typeface="Calibri" pitchFamily="34" charset="-122"/>
                <a:cs typeface="Times New Roman"/>
              </a:rPr>
              <a:t>  </a:t>
            </a:r>
            <a:r>
              <a:rPr lang="en-US" sz="1050" b="1">
                <a:solidFill>
                  <a:srgbClr val="162B5C"/>
                </a:solidFill>
                <a:latin typeface="Times New Roman"/>
                <a:ea typeface="Calibri" pitchFamily="34" charset="-122"/>
                <a:cs typeface="Times New Roman"/>
              </a:rPr>
              <a:t>Cross-Check with Documents</a:t>
            </a:r>
            <a:endParaRPr lang="en-US" sz="1300">
              <a:latin typeface="Times New Roman"/>
              <a:cs typeface="Times New Roman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5984748" y="4416552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C7FC4"/>
                </a:solidFill>
                <a:latin typeface="Times New Roman"/>
                <a:ea typeface="Arial" pitchFamily="34" charset="-122"/>
                <a:cs typeface="Times New Roman"/>
              </a:rPr>
              <a:t>▼</a:t>
            </a:r>
            <a:endParaRPr lang="en-US" sz="1000">
              <a:latin typeface="Times New Roman"/>
              <a:cs typeface="Times New Roman"/>
            </a:endParaRPr>
          </a:p>
        </p:txBody>
      </p:sp>
      <p:sp>
        <p:nvSpPr>
          <p:cNvPr id="64" name="Shape 62"/>
          <p:cNvSpPr/>
          <p:nvPr/>
        </p:nvSpPr>
        <p:spPr>
          <a:xfrm>
            <a:off x="4352544" y="4507992"/>
            <a:ext cx="3483864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1C7FC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462272" y="4507992"/>
            <a:ext cx="3264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>
                <a:solidFill>
                  <a:srgbClr val="000000"/>
                </a:solidFill>
                <a:latin typeface="Times New Roman"/>
                <a:ea typeface="Calibri" pitchFamily="34" charset="-122"/>
                <a:cs typeface="Times New Roman"/>
              </a:rPr>
              <a:t>  </a:t>
            </a:r>
            <a:r>
              <a:rPr lang="en-US" sz="1050" b="1">
                <a:solidFill>
                  <a:srgbClr val="162B5C"/>
                </a:solidFill>
                <a:latin typeface="Times New Roman"/>
                <a:ea typeface="Calibri" pitchFamily="34" charset="-122"/>
                <a:cs typeface="Times New Roman"/>
              </a:rPr>
              <a:t>Generate Verification Evidence</a:t>
            </a:r>
            <a:endParaRPr lang="en-US" sz="1300">
              <a:latin typeface="Times New Roman"/>
              <a:cs typeface="Times New Roman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5984748" y="4800600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C7FC4"/>
                </a:solidFill>
                <a:latin typeface="Times New Roman"/>
                <a:ea typeface="Arial" pitchFamily="34" charset="-122"/>
                <a:cs typeface="Times New Roman"/>
              </a:rPr>
              <a:t>▼</a:t>
            </a:r>
            <a:endParaRPr lang="en-US" sz="1000">
              <a:latin typeface="Times New Roman"/>
              <a:cs typeface="Times New Roman"/>
            </a:endParaRPr>
          </a:p>
        </p:txBody>
      </p:sp>
      <p:sp>
        <p:nvSpPr>
          <p:cNvPr id="67" name="Shape 65"/>
          <p:cNvSpPr/>
          <p:nvPr/>
        </p:nvSpPr>
        <p:spPr>
          <a:xfrm>
            <a:off x="4352544" y="4892040"/>
            <a:ext cx="3483864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1C7FC4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718304" y="4919472"/>
            <a:ext cx="3026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>
                <a:solidFill>
                  <a:srgbClr val="162B5C"/>
                </a:solidFill>
                <a:latin typeface="Times New Roman"/>
                <a:ea typeface="Calibri" pitchFamily="34" charset="-122"/>
                <a:cs typeface="Times New Roman"/>
              </a:rPr>
              <a:t>GST | PAN | Udyam | MCA | EPFO/ESIC</a:t>
            </a:r>
            <a:endParaRPr lang="en-US" sz="950">
              <a:latin typeface="Times New Roman"/>
              <a:cs typeface="Times New Roman"/>
            </a:endParaRPr>
          </a:p>
        </p:txBody>
      </p:sp>
      <p:sp>
        <p:nvSpPr>
          <p:cNvPr id="70" name="Text 68"/>
          <p:cNvSpPr/>
          <p:nvPr/>
        </p:nvSpPr>
        <p:spPr>
          <a:xfrm>
            <a:off x="4718304" y="5193792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>
                <a:solidFill>
                  <a:srgbClr val="6B7280"/>
                </a:solidFill>
                <a:latin typeface="Times New Roman"/>
                <a:ea typeface="Calibri" pitchFamily="34" charset="-122"/>
                <a:cs typeface="Times New Roman"/>
              </a:rPr>
              <a:t>(Authorized Government APIs)</a:t>
            </a:r>
            <a:endParaRPr lang="en-US" sz="800">
              <a:latin typeface="Times New Roman"/>
              <a:cs typeface="Times New Roman"/>
            </a:endParaRPr>
          </a:p>
        </p:txBody>
      </p:sp>
      <p:sp>
        <p:nvSpPr>
          <p:cNvPr id="71" name="Shape 69"/>
          <p:cNvSpPr/>
          <p:nvPr/>
        </p:nvSpPr>
        <p:spPr>
          <a:xfrm>
            <a:off x="8156448" y="2331720"/>
            <a:ext cx="3758184" cy="3291840"/>
          </a:xfrm>
          <a:prstGeom prst="roundRect">
            <a:avLst>
              <a:gd name="adj" fmla="val 2222"/>
            </a:avLst>
          </a:prstGeom>
          <a:solidFill>
            <a:srgbClr val="EAF7EE"/>
          </a:solidFill>
          <a:ln w="12700">
            <a:solidFill>
              <a:srgbClr val="2E8B4F"/>
            </a:solidFill>
            <a:prstDash val="sysDot"/>
          </a:ln>
        </p:spPr>
      </p:sp>
      <p:sp>
        <p:nvSpPr>
          <p:cNvPr id="72" name="Shape 70"/>
          <p:cNvSpPr/>
          <p:nvPr/>
        </p:nvSpPr>
        <p:spPr>
          <a:xfrm>
            <a:off x="8156448" y="2331720"/>
            <a:ext cx="3758184" cy="502920"/>
          </a:xfrm>
          <a:prstGeom prst="roundRect">
            <a:avLst>
              <a:gd name="adj" fmla="val 14545"/>
            </a:avLst>
          </a:prstGeom>
          <a:solidFill>
            <a:srgbClr val="2E8B4F"/>
          </a:solidFill>
          <a:ln/>
        </p:spPr>
      </p:sp>
      <p:sp>
        <p:nvSpPr>
          <p:cNvPr id="73" name="Text 71"/>
          <p:cNvSpPr/>
          <p:nvPr/>
        </p:nvSpPr>
        <p:spPr>
          <a:xfrm>
            <a:off x="8293608" y="2331720"/>
            <a:ext cx="3483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>
                <a:solidFill>
                  <a:srgbClr val="FFFFFF"/>
                </a:solidFill>
                <a:latin typeface="Times New Roman"/>
                <a:ea typeface="Calibri" pitchFamily="34" charset="-122"/>
                <a:cs typeface="Times New Roman"/>
              </a:rPr>
              <a:t>                                            Mode 3
</a:t>
            </a:r>
            <a:r>
              <a:rPr lang="en-US" sz="1350" b="1">
                <a:solidFill>
                  <a:srgbClr val="FFFFFF"/>
                </a:solidFill>
                <a:latin typeface="Times New Roman"/>
                <a:ea typeface="Calibri" pitchFamily="34" charset="-122"/>
                <a:cs typeface="Times New Roman"/>
              </a:rPr>
              <a:t>AI COMPLIANCE ASSESSMENT</a:t>
            </a:r>
            <a:endParaRPr lang="en-US" sz="1100">
              <a:latin typeface="Times New Roman"/>
              <a:cs typeface="Times New Roman"/>
            </a:endParaRPr>
          </a:p>
        </p:txBody>
      </p:sp>
      <p:sp>
        <p:nvSpPr>
          <p:cNvPr id="74" name="Shape 72"/>
          <p:cNvSpPr/>
          <p:nvPr/>
        </p:nvSpPr>
        <p:spPr>
          <a:xfrm>
            <a:off x="8293608" y="2880360"/>
            <a:ext cx="3483864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2E8B4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403336" y="2880360"/>
            <a:ext cx="3264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>
                <a:solidFill>
                  <a:srgbClr val="162B5C"/>
                </a:solidFill>
                <a:latin typeface="Times New Roman"/>
                <a:ea typeface="Calibri" pitchFamily="34" charset="-122"/>
                <a:cs typeface="Times New Roman"/>
              </a:rPr>
              <a:t>Tender + Bidder Data</a:t>
            </a:r>
            <a:endParaRPr lang="en-US" sz="1300">
              <a:latin typeface="Times New Roman"/>
              <a:cs typeface="Times New Roman"/>
            </a:endParaRPr>
          </a:p>
        </p:txBody>
      </p:sp>
      <p:sp>
        <p:nvSpPr>
          <p:cNvPr id="76" name="Text 74"/>
          <p:cNvSpPr/>
          <p:nvPr/>
        </p:nvSpPr>
        <p:spPr>
          <a:xfrm>
            <a:off x="9925812" y="3172968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2E8B4F"/>
                </a:solidFill>
                <a:latin typeface="Times New Roman"/>
                <a:ea typeface="Arial" pitchFamily="34" charset="-122"/>
                <a:cs typeface="Times New Roman"/>
              </a:rPr>
              <a:t>▼</a:t>
            </a:r>
            <a:endParaRPr lang="en-US" sz="1000">
              <a:latin typeface="Times New Roman"/>
              <a:cs typeface="Times New Roman"/>
            </a:endParaRPr>
          </a:p>
        </p:txBody>
      </p:sp>
      <p:sp>
        <p:nvSpPr>
          <p:cNvPr id="77" name="Shape 75"/>
          <p:cNvSpPr/>
          <p:nvPr/>
        </p:nvSpPr>
        <p:spPr>
          <a:xfrm>
            <a:off x="8293608" y="3264408"/>
            <a:ext cx="3483864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2E8B4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403336" y="3264408"/>
            <a:ext cx="3264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>
                <a:solidFill>
                  <a:srgbClr val="000000"/>
                </a:solidFill>
                <a:latin typeface="Times New Roman"/>
                <a:ea typeface="Calibri" pitchFamily="34" charset="-122"/>
                <a:cs typeface="Times New Roman"/>
              </a:rPr>
              <a:t> </a:t>
            </a:r>
            <a:r>
              <a:rPr lang="en-US" sz="1100" b="1">
                <a:solidFill>
                  <a:srgbClr val="162B5C"/>
                </a:solidFill>
                <a:latin typeface="Times New Roman"/>
                <a:ea typeface="Calibri" pitchFamily="34" charset="-122"/>
                <a:cs typeface="Times New Roman"/>
              </a:rPr>
              <a:t>Apply Tender Rules</a:t>
            </a:r>
            <a:endParaRPr lang="en-US" sz="1300">
              <a:latin typeface="Times New Roman"/>
              <a:cs typeface="Times New Roman"/>
            </a:endParaRPr>
          </a:p>
        </p:txBody>
      </p:sp>
      <p:sp>
        <p:nvSpPr>
          <p:cNvPr id="79" name="Text 77"/>
          <p:cNvSpPr/>
          <p:nvPr/>
        </p:nvSpPr>
        <p:spPr>
          <a:xfrm>
            <a:off x="9925812" y="3557016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2E8B4F"/>
                </a:solidFill>
                <a:latin typeface="Times New Roman"/>
                <a:ea typeface="Arial" pitchFamily="34" charset="-122"/>
                <a:cs typeface="Times New Roman"/>
              </a:rPr>
              <a:t>▼</a:t>
            </a:r>
            <a:endParaRPr lang="en-US" sz="1000">
              <a:latin typeface="Times New Roman"/>
              <a:cs typeface="Times New Roman"/>
            </a:endParaRPr>
          </a:p>
        </p:txBody>
      </p:sp>
      <p:sp>
        <p:nvSpPr>
          <p:cNvPr id="80" name="Shape 78"/>
          <p:cNvSpPr/>
          <p:nvPr/>
        </p:nvSpPr>
        <p:spPr>
          <a:xfrm>
            <a:off x="8293608" y="3648456"/>
            <a:ext cx="3483864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2E8B4F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8403336" y="3648456"/>
            <a:ext cx="3264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>
                <a:solidFill>
                  <a:srgbClr val="000000"/>
                </a:solidFill>
                <a:latin typeface="Times New Roman"/>
                <a:ea typeface="Calibri" pitchFamily="34" charset="-122"/>
                <a:cs typeface="Times New Roman"/>
              </a:rPr>
              <a:t>  </a:t>
            </a:r>
            <a:r>
              <a:rPr lang="en-US" sz="1100" b="1">
                <a:solidFill>
                  <a:srgbClr val="162B5C"/>
                </a:solidFill>
                <a:latin typeface="Times New Roman"/>
                <a:ea typeface="Calibri" pitchFamily="34" charset="-122"/>
                <a:cs typeface="Times New Roman"/>
              </a:rPr>
              <a:t>Detect Compliance Gaps</a:t>
            </a:r>
            <a:endParaRPr lang="en-US" sz="1300">
              <a:latin typeface="Times New Roman"/>
              <a:cs typeface="Times New Roman"/>
            </a:endParaRPr>
          </a:p>
        </p:txBody>
      </p:sp>
      <p:sp>
        <p:nvSpPr>
          <p:cNvPr id="82" name="Text 80"/>
          <p:cNvSpPr/>
          <p:nvPr/>
        </p:nvSpPr>
        <p:spPr>
          <a:xfrm>
            <a:off x="9925812" y="3941064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2E8B4F"/>
                </a:solidFill>
                <a:latin typeface="Times New Roman"/>
                <a:ea typeface="Arial" pitchFamily="34" charset="-122"/>
                <a:cs typeface="Times New Roman"/>
              </a:rPr>
              <a:t>▼</a:t>
            </a:r>
            <a:endParaRPr lang="en-US" sz="1000">
              <a:latin typeface="Times New Roman"/>
              <a:cs typeface="Times New Roman"/>
            </a:endParaRPr>
          </a:p>
        </p:txBody>
      </p:sp>
      <p:sp>
        <p:nvSpPr>
          <p:cNvPr id="83" name="Shape 81"/>
          <p:cNvSpPr/>
          <p:nvPr/>
        </p:nvSpPr>
        <p:spPr>
          <a:xfrm>
            <a:off x="8293608" y="4032504"/>
            <a:ext cx="3483864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2E8B4F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8403336" y="4032504"/>
            <a:ext cx="3264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>
                <a:solidFill>
                  <a:srgbClr val="162B5C"/>
                </a:solidFill>
                <a:latin typeface="Times New Roman"/>
                <a:ea typeface="Calibri" pitchFamily="34" charset="-122"/>
                <a:cs typeface="Times New Roman"/>
              </a:rPr>
              <a:t>Generate Compliance Score</a:t>
            </a:r>
            <a:endParaRPr lang="en-US" sz="1300">
              <a:latin typeface="Times New Roman"/>
              <a:cs typeface="Times New Roman"/>
            </a:endParaRPr>
          </a:p>
        </p:txBody>
      </p:sp>
      <p:sp>
        <p:nvSpPr>
          <p:cNvPr id="85" name="Text 83"/>
          <p:cNvSpPr/>
          <p:nvPr/>
        </p:nvSpPr>
        <p:spPr>
          <a:xfrm>
            <a:off x="9925812" y="4325112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2E8B4F"/>
                </a:solidFill>
                <a:latin typeface="Times New Roman"/>
                <a:ea typeface="Arial" pitchFamily="34" charset="-122"/>
                <a:cs typeface="Times New Roman"/>
              </a:rPr>
              <a:t>▼</a:t>
            </a:r>
            <a:endParaRPr lang="en-US" sz="1000">
              <a:latin typeface="Times New Roman"/>
              <a:cs typeface="Times New Roman"/>
            </a:endParaRPr>
          </a:p>
        </p:txBody>
      </p:sp>
      <p:sp>
        <p:nvSpPr>
          <p:cNvPr id="86" name="Shape 84"/>
          <p:cNvSpPr/>
          <p:nvPr/>
        </p:nvSpPr>
        <p:spPr>
          <a:xfrm>
            <a:off x="8293608" y="4416552"/>
            <a:ext cx="3483864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2E8B4F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8403336" y="4416552"/>
            <a:ext cx="3264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>
                <a:solidFill>
                  <a:srgbClr val="000000"/>
                </a:solidFill>
                <a:latin typeface="Times New Roman"/>
                <a:ea typeface="Calibri" pitchFamily="34" charset="-122"/>
                <a:cs typeface="Times New Roman"/>
              </a:rPr>
              <a:t>  </a:t>
            </a:r>
            <a:r>
              <a:rPr lang="en-US" sz="1000" b="1">
                <a:solidFill>
                  <a:srgbClr val="162B5C"/>
                </a:solidFill>
                <a:latin typeface="Times New Roman"/>
                <a:ea typeface="Calibri" pitchFamily="34" charset="-122"/>
                <a:cs typeface="Times New Roman"/>
              </a:rPr>
              <a:t>Risk Level + AI Recommendation</a:t>
            </a:r>
            <a:endParaRPr lang="en-US" sz="1300">
              <a:latin typeface="Times New Roman"/>
              <a:cs typeface="Times New Roman"/>
            </a:endParaRPr>
          </a:p>
        </p:txBody>
      </p:sp>
      <p:sp>
        <p:nvSpPr>
          <p:cNvPr id="88" name="Text 86"/>
          <p:cNvSpPr/>
          <p:nvPr/>
        </p:nvSpPr>
        <p:spPr>
          <a:xfrm>
            <a:off x="9925812" y="4709160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2E8B4F"/>
                </a:solidFill>
                <a:latin typeface="Times New Roman"/>
                <a:ea typeface="Arial" pitchFamily="34" charset="-122"/>
                <a:cs typeface="Times New Roman"/>
              </a:rPr>
              <a:t>▼</a:t>
            </a:r>
            <a:endParaRPr lang="en-US" sz="1000">
              <a:latin typeface="Times New Roman"/>
              <a:cs typeface="Times New Roman"/>
            </a:endParaRPr>
          </a:p>
        </p:txBody>
      </p:sp>
      <p:sp>
        <p:nvSpPr>
          <p:cNvPr id="89" name="Shape 87"/>
          <p:cNvSpPr/>
          <p:nvPr/>
        </p:nvSpPr>
        <p:spPr>
          <a:xfrm>
            <a:off x="8293608" y="4800600"/>
            <a:ext cx="3483864" cy="548640"/>
          </a:xfrm>
          <a:prstGeom prst="roundRect">
            <a:avLst>
              <a:gd name="adj" fmla="val 13333"/>
            </a:avLst>
          </a:prstGeom>
          <a:solidFill>
            <a:srgbClr val="1F6B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0" name="Text 88"/>
          <p:cNvSpPr/>
          <p:nvPr/>
        </p:nvSpPr>
        <p:spPr>
          <a:xfrm>
            <a:off x="8385048" y="4800600"/>
            <a:ext cx="3300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>
                <a:solidFill>
                  <a:srgbClr val="FFFFFF"/>
                </a:solidFill>
                <a:latin typeface="Times New Roman"/>
                <a:ea typeface="Calibri" pitchFamily="34" charset="-122"/>
                <a:cs typeface="Times New Roman"/>
              </a:rPr>
              <a:t> Final Decision →</a:t>
            </a:r>
            <a:endParaRPr lang="en-US" sz="1100">
              <a:latin typeface="Times New Roman"/>
              <a:cs typeface="Times New Roman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00" b="1">
                <a:solidFill>
                  <a:srgbClr val="FFFFFF"/>
                </a:solidFill>
                <a:latin typeface="Times New Roman"/>
                <a:ea typeface="Calibri" pitchFamily="34" charset="-122"/>
                <a:cs typeface="Times New Roman"/>
              </a:rPr>
              <a:t>Procurement Officer</a:t>
            </a:r>
            <a:endParaRPr lang="en-US" sz="1100">
              <a:latin typeface="Times New Roman"/>
              <a:cs typeface="Times New Roman"/>
            </a:endParaRPr>
          </a:p>
        </p:txBody>
      </p:sp>
      <p:sp>
        <p:nvSpPr>
          <p:cNvPr id="91" name="Shape 89"/>
          <p:cNvSpPr/>
          <p:nvPr/>
        </p:nvSpPr>
        <p:spPr>
          <a:xfrm>
            <a:off x="274320" y="5742432"/>
            <a:ext cx="1737360" cy="292608"/>
          </a:xfrm>
          <a:prstGeom prst="roundRect">
            <a:avLst>
              <a:gd name="adj" fmla="val 18750"/>
            </a:avLst>
          </a:prstGeom>
          <a:solidFill>
            <a:srgbClr val="162B5C"/>
          </a:solidFill>
          <a:ln/>
        </p:spPr>
      </p:sp>
      <p:sp>
        <p:nvSpPr>
          <p:cNvPr id="92" name="Text 90"/>
          <p:cNvSpPr/>
          <p:nvPr/>
        </p:nvSpPr>
        <p:spPr>
          <a:xfrm>
            <a:off x="274320" y="57424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Times New Roman"/>
                <a:ea typeface="Calibri" pitchFamily="34" charset="-122"/>
                <a:cs typeface="Times New Roman"/>
              </a:rPr>
              <a:t>🗄️  TECH STACK</a:t>
            </a:r>
            <a:endParaRPr lang="en-US" sz="1100">
              <a:latin typeface="Times New Roman"/>
              <a:cs typeface="Times New Roman"/>
            </a:endParaRPr>
          </a:p>
        </p:txBody>
      </p:sp>
      <p:sp>
        <p:nvSpPr>
          <p:cNvPr id="93" name="Shape 91"/>
          <p:cNvSpPr/>
          <p:nvPr/>
        </p:nvSpPr>
        <p:spPr>
          <a:xfrm>
            <a:off x="274320" y="6053328"/>
            <a:ext cx="630936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1C7FC4"/>
            </a:solidFill>
            <a:prstDash val="sysDot"/>
          </a:ln>
        </p:spPr>
      </p:sp>
      <p:sp>
        <p:nvSpPr>
          <p:cNvPr id="94" name="Text 92"/>
          <p:cNvSpPr/>
          <p:nvPr/>
        </p:nvSpPr>
        <p:spPr>
          <a:xfrm>
            <a:off x="274320" y="6089904"/>
            <a:ext cx="90133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>
                <a:solidFill>
                  <a:srgbClr val="000000"/>
                </a:solidFill>
                <a:latin typeface="Times New Roman"/>
                <a:cs typeface="Times New Roman"/>
              </a:rPr>
              <a:t>⚛️</a:t>
            </a:r>
            <a:endParaRPr lang="en-US" sz="1500">
              <a:latin typeface="Times New Roman"/>
              <a:cs typeface="Times New Roman"/>
            </a:endParaRPr>
          </a:p>
        </p:txBody>
      </p:sp>
      <p:sp>
        <p:nvSpPr>
          <p:cNvPr id="95" name="Text 93"/>
          <p:cNvSpPr/>
          <p:nvPr/>
        </p:nvSpPr>
        <p:spPr>
          <a:xfrm>
            <a:off x="301752" y="6327648"/>
            <a:ext cx="84647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>
                <a:solidFill>
                  <a:srgbClr val="162B5C"/>
                </a:solidFill>
                <a:latin typeface="Times New Roman"/>
                <a:ea typeface="Calibri" pitchFamily="34" charset="-122"/>
                <a:cs typeface="Times New Roman"/>
              </a:rPr>
              <a:t>React.js</a:t>
            </a:r>
            <a:endParaRPr lang="en-US" sz="800">
              <a:latin typeface="Times New Roman"/>
              <a:cs typeface="Times New Roman"/>
            </a:endParaRPr>
          </a:p>
        </p:txBody>
      </p:sp>
      <p:sp>
        <p:nvSpPr>
          <p:cNvPr id="96" name="Text 94"/>
          <p:cNvSpPr/>
          <p:nvPr/>
        </p:nvSpPr>
        <p:spPr>
          <a:xfrm>
            <a:off x="301752" y="6547104"/>
            <a:ext cx="84647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i="1">
                <a:solidFill>
                  <a:srgbClr val="6B7280"/>
                </a:solidFill>
                <a:latin typeface="Times New Roman"/>
                <a:ea typeface="Calibri" pitchFamily="34" charset="-122"/>
                <a:cs typeface="Times New Roman"/>
              </a:rPr>
              <a:t>(Frontend)</a:t>
            </a:r>
            <a:endParaRPr lang="en-US" sz="650">
              <a:latin typeface="Times New Roman"/>
              <a:cs typeface="Times New Roman"/>
            </a:endParaRPr>
          </a:p>
        </p:txBody>
      </p:sp>
      <p:sp>
        <p:nvSpPr>
          <p:cNvPr id="97" name="Text 95"/>
          <p:cNvSpPr/>
          <p:nvPr/>
        </p:nvSpPr>
        <p:spPr>
          <a:xfrm>
            <a:off x="1175657" y="6089904"/>
            <a:ext cx="90133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>
                <a:solidFill>
                  <a:srgbClr val="000000"/>
                </a:solidFill>
                <a:latin typeface="Times New Roman"/>
                <a:cs typeface="Times New Roman"/>
              </a:rPr>
              <a:t>⚡</a:t>
            </a:r>
            <a:endParaRPr lang="en-US" sz="1500">
              <a:latin typeface="Times New Roman"/>
              <a:cs typeface="Times New Roman"/>
            </a:endParaRPr>
          </a:p>
        </p:txBody>
      </p:sp>
      <p:sp>
        <p:nvSpPr>
          <p:cNvPr id="98" name="Text 96"/>
          <p:cNvSpPr/>
          <p:nvPr/>
        </p:nvSpPr>
        <p:spPr>
          <a:xfrm>
            <a:off x="1203089" y="6327648"/>
            <a:ext cx="84647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>
                <a:solidFill>
                  <a:srgbClr val="162B5C"/>
                </a:solidFill>
                <a:latin typeface="Times New Roman"/>
                <a:ea typeface="Calibri" pitchFamily="34" charset="-122"/>
                <a:cs typeface="Times New Roman"/>
              </a:rPr>
              <a:t>FastAPI</a:t>
            </a:r>
            <a:endParaRPr lang="en-US" sz="800">
              <a:latin typeface="Times New Roman"/>
              <a:cs typeface="Times New Roman"/>
            </a:endParaRPr>
          </a:p>
        </p:txBody>
      </p:sp>
      <p:sp>
        <p:nvSpPr>
          <p:cNvPr id="99" name="Text 97"/>
          <p:cNvSpPr/>
          <p:nvPr/>
        </p:nvSpPr>
        <p:spPr>
          <a:xfrm>
            <a:off x="1203089" y="6547104"/>
            <a:ext cx="84647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i="1">
                <a:solidFill>
                  <a:srgbClr val="6B7280"/>
                </a:solidFill>
                <a:latin typeface="Times New Roman"/>
                <a:ea typeface="Calibri" pitchFamily="34" charset="-122"/>
                <a:cs typeface="Times New Roman"/>
              </a:rPr>
              <a:t>(Backend)</a:t>
            </a:r>
            <a:endParaRPr lang="en-US" sz="650">
              <a:latin typeface="Times New Roman"/>
              <a:cs typeface="Times New Roman"/>
            </a:endParaRPr>
          </a:p>
        </p:txBody>
      </p:sp>
      <p:sp>
        <p:nvSpPr>
          <p:cNvPr id="100" name="Text 98"/>
          <p:cNvSpPr/>
          <p:nvPr/>
        </p:nvSpPr>
        <p:spPr>
          <a:xfrm>
            <a:off x="2076994" y="6089904"/>
            <a:ext cx="90133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>
                <a:solidFill>
                  <a:srgbClr val="000000"/>
                </a:solidFill>
                <a:latin typeface="Times New Roman"/>
                <a:cs typeface="Times New Roman"/>
              </a:rPr>
              <a:t>🐘</a:t>
            </a:r>
            <a:endParaRPr lang="en-US" sz="1500">
              <a:latin typeface="Times New Roman"/>
              <a:cs typeface="Times New Roman"/>
            </a:endParaRPr>
          </a:p>
        </p:txBody>
      </p:sp>
      <p:sp>
        <p:nvSpPr>
          <p:cNvPr id="101" name="Text 99"/>
          <p:cNvSpPr/>
          <p:nvPr/>
        </p:nvSpPr>
        <p:spPr>
          <a:xfrm>
            <a:off x="2104426" y="6327648"/>
            <a:ext cx="84647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>
                <a:solidFill>
                  <a:srgbClr val="162B5C"/>
                </a:solidFill>
                <a:latin typeface="Times New Roman"/>
                <a:ea typeface="Calibri" pitchFamily="34" charset="-122"/>
                <a:cs typeface="Times New Roman"/>
              </a:rPr>
              <a:t>PostgreSQL</a:t>
            </a:r>
            <a:endParaRPr lang="en-US" sz="800">
              <a:latin typeface="Times New Roman"/>
              <a:cs typeface="Times New Roman"/>
            </a:endParaRPr>
          </a:p>
        </p:txBody>
      </p:sp>
      <p:sp>
        <p:nvSpPr>
          <p:cNvPr id="102" name="Text 100"/>
          <p:cNvSpPr/>
          <p:nvPr/>
        </p:nvSpPr>
        <p:spPr>
          <a:xfrm>
            <a:off x="2104426" y="6547104"/>
            <a:ext cx="84647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i="1">
                <a:solidFill>
                  <a:srgbClr val="6B7280"/>
                </a:solidFill>
                <a:latin typeface="Times New Roman"/>
                <a:ea typeface="Calibri" pitchFamily="34" charset="-122"/>
                <a:cs typeface="Times New Roman"/>
              </a:rPr>
              <a:t>(Database)</a:t>
            </a:r>
            <a:endParaRPr lang="en-US" sz="650">
              <a:latin typeface="Times New Roman"/>
              <a:cs typeface="Times New Roman"/>
            </a:endParaRPr>
          </a:p>
        </p:txBody>
      </p:sp>
      <p:sp>
        <p:nvSpPr>
          <p:cNvPr id="103" name="Text 101"/>
          <p:cNvSpPr/>
          <p:nvPr/>
        </p:nvSpPr>
        <p:spPr>
          <a:xfrm>
            <a:off x="2978331" y="6089904"/>
            <a:ext cx="90133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>
                <a:solidFill>
                  <a:srgbClr val="000000"/>
                </a:solidFill>
                <a:latin typeface="Times New Roman"/>
                <a:cs typeface="Times New Roman"/>
              </a:rPr>
              <a:t>📄</a:t>
            </a:r>
            <a:endParaRPr lang="en-US" sz="1500">
              <a:latin typeface="Times New Roman"/>
              <a:cs typeface="Times New Roman"/>
            </a:endParaRPr>
          </a:p>
        </p:txBody>
      </p:sp>
      <p:sp>
        <p:nvSpPr>
          <p:cNvPr id="104" name="Text 102"/>
          <p:cNvSpPr/>
          <p:nvPr/>
        </p:nvSpPr>
        <p:spPr>
          <a:xfrm>
            <a:off x="3005763" y="6327648"/>
            <a:ext cx="84647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>
                <a:solidFill>
                  <a:srgbClr val="162B5C"/>
                </a:solidFill>
                <a:latin typeface="Times New Roman"/>
                <a:ea typeface="Calibri" pitchFamily="34" charset="-122"/>
                <a:cs typeface="Times New Roman"/>
              </a:rPr>
              <a:t>OCR</a:t>
            </a:r>
            <a:endParaRPr lang="en-US" sz="800">
              <a:latin typeface="Times New Roman"/>
              <a:cs typeface="Times New Roman"/>
            </a:endParaRPr>
          </a:p>
        </p:txBody>
      </p:sp>
      <p:sp>
        <p:nvSpPr>
          <p:cNvPr id="105" name="Text 103"/>
          <p:cNvSpPr/>
          <p:nvPr/>
        </p:nvSpPr>
        <p:spPr>
          <a:xfrm>
            <a:off x="3005763" y="6547104"/>
            <a:ext cx="84647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i="1">
                <a:solidFill>
                  <a:srgbClr val="6B7280"/>
                </a:solidFill>
                <a:latin typeface="Times New Roman"/>
                <a:ea typeface="Calibri" pitchFamily="34" charset="-122"/>
                <a:cs typeface="Times New Roman"/>
              </a:rPr>
              <a:t>(Document Processing)</a:t>
            </a:r>
            <a:endParaRPr lang="en-US" sz="650">
              <a:latin typeface="Times New Roman"/>
              <a:cs typeface="Times New Roman"/>
            </a:endParaRPr>
          </a:p>
        </p:txBody>
      </p:sp>
      <p:sp>
        <p:nvSpPr>
          <p:cNvPr id="106" name="Text 104"/>
          <p:cNvSpPr/>
          <p:nvPr/>
        </p:nvSpPr>
        <p:spPr>
          <a:xfrm>
            <a:off x="3879669" y="6089904"/>
            <a:ext cx="90133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>
                <a:solidFill>
                  <a:srgbClr val="000000"/>
                </a:solidFill>
                <a:latin typeface="Times New Roman"/>
                <a:cs typeface="Times New Roman"/>
              </a:rPr>
              <a:t>🧠</a:t>
            </a:r>
            <a:endParaRPr lang="en-US" sz="1500">
              <a:latin typeface="Times New Roman"/>
              <a:cs typeface="Times New Roman"/>
            </a:endParaRPr>
          </a:p>
        </p:txBody>
      </p:sp>
      <p:sp>
        <p:nvSpPr>
          <p:cNvPr id="107" name="Text 105"/>
          <p:cNvSpPr/>
          <p:nvPr/>
        </p:nvSpPr>
        <p:spPr>
          <a:xfrm>
            <a:off x="3907101" y="6327648"/>
            <a:ext cx="84647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>
                <a:solidFill>
                  <a:srgbClr val="162B5C"/>
                </a:solidFill>
                <a:latin typeface="Times New Roman"/>
                <a:ea typeface="Calibri" pitchFamily="34" charset="-122"/>
                <a:cs typeface="Times New Roman"/>
              </a:rPr>
              <a:t>LLM + RAG + ML</a:t>
            </a:r>
            <a:endParaRPr lang="en-US" sz="800">
              <a:latin typeface="Times New Roman"/>
              <a:cs typeface="Times New Roman"/>
            </a:endParaRPr>
          </a:p>
        </p:txBody>
      </p:sp>
      <p:sp>
        <p:nvSpPr>
          <p:cNvPr id="108" name="Text 106"/>
          <p:cNvSpPr/>
          <p:nvPr/>
        </p:nvSpPr>
        <p:spPr>
          <a:xfrm>
            <a:off x="3907101" y="6547104"/>
            <a:ext cx="84647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i="1">
                <a:solidFill>
                  <a:srgbClr val="6B7280"/>
                </a:solidFill>
                <a:latin typeface="Times New Roman"/>
                <a:ea typeface="Calibri" pitchFamily="34" charset="-122"/>
                <a:cs typeface="Times New Roman"/>
              </a:rPr>
              <a:t>(AI)</a:t>
            </a:r>
            <a:endParaRPr lang="en-US" sz="650">
              <a:latin typeface="Times New Roman"/>
              <a:cs typeface="Times New Roman"/>
            </a:endParaRPr>
          </a:p>
        </p:txBody>
      </p:sp>
      <p:sp>
        <p:nvSpPr>
          <p:cNvPr id="109" name="Text 107"/>
          <p:cNvSpPr/>
          <p:nvPr/>
        </p:nvSpPr>
        <p:spPr>
          <a:xfrm>
            <a:off x="4781006" y="6089904"/>
            <a:ext cx="90133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>
                <a:solidFill>
                  <a:srgbClr val="000000"/>
                </a:solidFill>
                <a:latin typeface="Times New Roman"/>
                <a:cs typeface="Times New Roman"/>
              </a:rPr>
              <a:t>🔒</a:t>
            </a:r>
            <a:endParaRPr lang="en-US" sz="1500">
              <a:latin typeface="Times New Roman"/>
              <a:cs typeface="Times New Roman"/>
            </a:endParaRPr>
          </a:p>
        </p:txBody>
      </p:sp>
      <p:sp>
        <p:nvSpPr>
          <p:cNvPr id="110" name="Text 108"/>
          <p:cNvSpPr/>
          <p:nvPr/>
        </p:nvSpPr>
        <p:spPr>
          <a:xfrm>
            <a:off x="4808438" y="6327648"/>
            <a:ext cx="84647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>
                <a:solidFill>
                  <a:srgbClr val="162B5C"/>
                </a:solidFill>
                <a:latin typeface="Times New Roman"/>
                <a:ea typeface="Calibri" pitchFamily="34" charset="-122"/>
                <a:cs typeface="Times New Roman"/>
              </a:rPr>
              <a:t>JWT + RBAC +</a:t>
            </a:r>
            <a:endParaRPr lang="en-US" sz="800">
              <a:latin typeface="Times New Roman"/>
              <a:cs typeface="Times New Roman"/>
            </a:endParaRPr>
          </a:p>
          <a:p>
            <a:pPr marL="0" indent="0" algn="ctr">
              <a:lnSpc>
                <a:spcPct val="90000"/>
              </a:lnSpc>
              <a:buNone/>
            </a:pPr>
            <a:r>
              <a:rPr lang="en-US" sz="800" b="1">
                <a:solidFill>
                  <a:srgbClr val="162B5C"/>
                </a:solidFill>
                <a:latin typeface="Times New Roman"/>
                <a:ea typeface="Calibri" pitchFamily="34" charset="-122"/>
                <a:cs typeface="Times New Roman"/>
              </a:rPr>
              <a:t>Encryption</a:t>
            </a:r>
            <a:endParaRPr lang="en-US" sz="800">
              <a:latin typeface="Times New Roman"/>
              <a:cs typeface="Times New Roman"/>
            </a:endParaRPr>
          </a:p>
        </p:txBody>
      </p:sp>
      <p:sp>
        <p:nvSpPr>
          <p:cNvPr id="111" name="Text 109"/>
          <p:cNvSpPr/>
          <p:nvPr/>
        </p:nvSpPr>
        <p:spPr>
          <a:xfrm>
            <a:off x="4808438" y="6547104"/>
            <a:ext cx="84647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i="1">
                <a:solidFill>
                  <a:srgbClr val="6B7280"/>
                </a:solidFill>
                <a:latin typeface="Times New Roman"/>
                <a:ea typeface="Calibri" pitchFamily="34" charset="-122"/>
                <a:cs typeface="Times New Roman"/>
              </a:rPr>
              <a:t>(Security)</a:t>
            </a:r>
            <a:endParaRPr lang="en-US" sz="650">
              <a:latin typeface="Times New Roman"/>
              <a:cs typeface="Times New Roman"/>
            </a:endParaRPr>
          </a:p>
        </p:txBody>
      </p:sp>
      <p:sp>
        <p:nvSpPr>
          <p:cNvPr id="112" name="Text 110"/>
          <p:cNvSpPr/>
          <p:nvPr/>
        </p:nvSpPr>
        <p:spPr>
          <a:xfrm>
            <a:off x="5682343" y="6089904"/>
            <a:ext cx="90133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>
                <a:solidFill>
                  <a:srgbClr val="000000"/>
                </a:solidFill>
                <a:latin typeface="Times New Roman"/>
                <a:cs typeface="Times New Roman"/>
              </a:rPr>
              <a:t>🏛️</a:t>
            </a:r>
            <a:endParaRPr lang="en-US" sz="1500">
              <a:latin typeface="Times New Roman"/>
              <a:cs typeface="Times New Roman"/>
            </a:endParaRPr>
          </a:p>
        </p:txBody>
      </p:sp>
      <p:sp>
        <p:nvSpPr>
          <p:cNvPr id="113" name="Text 111"/>
          <p:cNvSpPr/>
          <p:nvPr/>
        </p:nvSpPr>
        <p:spPr>
          <a:xfrm>
            <a:off x="5709775" y="6327648"/>
            <a:ext cx="84647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>
                <a:solidFill>
                  <a:srgbClr val="162B5C"/>
                </a:solidFill>
                <a:latin typeface="Times New Roman"/>
                <a:ea typeface="Calibri" pitchFamily="34" charset="-122"/>
                <a:cs typeface="Times New Roman"/>
              </a:rPr>
              <a:t>Authorized</a:t>
            </a:r>
            <a:endParaRPr lang="en-US" sz="800">
              <a:latin typeface="Times New Roman"/>
              <a:cs typeface="Times New Roman"/>
            </a:endParaRPr>
          </a:p>
          <a:p>
            <a:pPr marL="0" indent="0" algn="ctr">
              <a:lnSpc>
                <a:spcPct val="90000"/>
              </a:lnSpc>
              <a:buNone/>
            </a:pPr>
            <a:r>
              <a:rPr lang="en-US" sz="800" b="1">
                <a:solidFill>
                  <a:srgbClr val="162B5C"/>
                </a:solidFill>
                <a:latin typeface="Times New Roman"/>
                <a:ea typeface="Calibri" pitchFamily="34" charset="-122"/>
                <a:cs typeface="Times New Roman"/>
              </a:rPr>
              <a:t>Government APIs</a:t>
            </a:r>
            <a:endParaRPr lang="en-US" sz="800">
              <a:latin typeface="Times New Roman"/>
              <a:cs typeface="Times New Roman"/>
            </a:endParaRPr>
          </a:p>
        </p:txBody>
      </p:sp>
      <p:sp>
        <p:nvSpPr>
          <p:cNvPr id="114" name="Text 112"/>
          <p:cNvSpPr/>
          <p:nvPr/>
        </p:nvSpPr>
        <p:spPr>
          <a:xfrm>
            <a:off x="5709775" y="6547104"/>
            <a:ext cx="84647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i="1">
                <a:solidFill>
                  <a:srgbClr val="6B7280"/>
                </a:solidFill>
                <a:latin typeface="Times New Roman"/>
                <a:ea typeface="Calibri" pitchFamily="34" charset="-122"/>
                <a:cs typeface="Times New Roman"/>
              </a:rPr>
              <a:t>(Integration)</a:t>
            </a:r>
            <a:endParaRPr lang="en-US" sz="650">
              <a:latin typeface="Times New Roman"/>
              <a:cs typeface="Times New Roman"/>
            </a:endParaRPr>
          </a:p>
        </p:txBody>
      </p:sp>
      <p:sp>
        <p:nvSpPr>
          <p:cNvPr id="115" name="Text 113"/>
          <p:cNvSpPr/>
          <p:nvPr/>
        </p:nvSpPr>
        <p:spPr>
          <a:xfrm>
            <a:off x="6720840" y="62362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6B4FA0"/>
                </a:solidFill>
                <a:latin typeface="Times New Roman"/>
                <a:ea typeface="Arial" pitchFamily="34" charset="-122"/>
                <a:cs typeface="Times New Roman"/>
              </a:rPr>
              <a:t>▶</a:t>
            </a:r>
            <a:endParaRPr lang="en-US" sz="2000">
              <a:latin typeface="Times New Roman"/>
              <a:cs typeface="Times New Roman"/>
            </a:endParaRPr>
          </a:p>
        </p:txBody>
      </p:sp>
      <p:sp>
        <p:nvSpPr>
          <p:cNvPr id="116" name="Shape 114"/>
          <p:cNvSpPr/>
          <p:nvPr/>
        </p:nvSpPr>
        <p:spPr>
          <a:xfrm>
            <a:off x="7178040" y="5742432"/>
            <a:ext cx="1188720" cy="292608"/>
          </a:xfrm>
          <a:prstGeom prst="roundRect">
            <a:avLst>
              <a:gd name="adj" fmla="val 18750"/>
            </a:avLst>
          </a:prstGeom>
          <a:solidFill>
            <a:srgbClr val="6B4FA0"/>
          </a:solidFill>
          <a:ln/>
        </p:spPr>
      </p:sp>
      <p:sp>
        <p:nvSpPr>
          <p:cNvPr id="117" name="Text 115"/>
          <p:cNvSpPr/>
          <p:nvPr/>
        </p:nvSpPr>
        <p:spPr>
          <a:xfrm>
            <a:off x="7178040" y="574243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Times New Roman"/>
                <a:ea typeface="Calibri" pitchFamily="34" charset="-122"/>
                <a:cs typeface="Times New Roman"/>
              </a:rPr>
              <a:t>OUTPUT</a:t>
            </a:r>
            <a:endParaRPr lang="en-US" sz="1100">
              <a:latin typeface="Times New Roman"/>
              <a:cs typeface="Times New Roman"/>
            </a:endParaRPr>
          </a:p>
        </p:txBody>
      </p:sp>
      <p:sp>
        <p:nvSpPr>
          <p:cNvPr id="118" name="Shape 116"/>
          <p:cNvSpPr/>
          <p:nvPr/>
        </p:nvSpPr>
        <p:spPr>
          <a:xfrm>
            <a:off x="7178040" y="6053328"/>
            <a:ext cx="4709160" cy="658368"/>
          </a:xfrm>
          <a:prstGeom prst="roundRect">
            <a:avLst>
              <a:gd name="adj" fmla="val 11111"/>
            </a:avLst>
          </a:prstGeom>
          <a:solidFill>
            <a:srgbClr val="EDE7F6"/>
          </a:solidFill>
          <a:ln w="15875">
            <a:solidFill>
              <a:srgbClr val="6B4FA0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7269480" y="6053328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>
                <a:solidFill>
                  <a:srgbClr val="000000"/>
                </a:solidFill>
                <a:latin typeface="Times New Roman"/>
                <a:cs typeface="Times New Roman"/>
              </a:rPr>
              <a:t>✅</a:t>
            </a:r>
            <a:endParaRPr lang="en-US" sz="2200">
              <a:latin typeface="Times New Roman"/>
              <a:cs typeface="Times New Roman"/>
            </a:endParaRPr>
          </a:p>
        </p:txBody>
      </p:sp>
      <p:sp>
        <p:nvSpPr>
          <p:cNvPr id="120" name="Text 118"/>
          <p:cNvSpPr/>
          <p:nvPr/>
        </p:nvSpPr>
        <p:spPr>
          <a:xfrm>
            <a:off x="7772400" y="6108192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b="1">
                <a:solidFill>
                  <a:srgbClr val="6B4FA0"/>
                </a:solidFill>
                <a:latin typeface="Times New Roman"/>
                <a:ea typeface="Calibri" pitchFamily="34" charset="-122"/>
                <a:cs typeface="Times New Roman"/>
              </a:rPr>
              <a:t>Compliance Score + Risk Level + Pending Requirements + Verification Evidence</a:t>
            </a:r>
            <a:endParaRPr lang="en-US" sz="1200">
              <a:latin typeface="Times New Roman"/>
              <a:cs typeface="Times New Roman"/>
            </a:endParaRPr>
          </a:p>
        </p:txBody>
      </p:sp>
      <p:pic>
        <p:nvPicPr>
          <p:cNvPr id="122" name="Picture 121">
            <a:extLst>
              <a:ext uri="{FF2B5EF4-FFF2-40B4-BE49-F238E27FC236}">
                <a16:creationId xmlns:a16="http://schemas.microsoft.com/office/drawing/2014/main" id="{47AD332A-751C-1CD2-ADB7-FB7BEB8B9F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437" y="137222"/>
            <a:ext cx="809932" cy="51363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FAD904F-3234-F65F-BE9B-966183708277}"/>
              </a:ext>
            </a:extLst>
          </p:cNvPr>
          <p:cNvSpPr txBox="1"/>
          <p:nvPr/>
        </p:nvSpPr>
        <p:spPr>
          <a:xfrm>
            <a:off x="2930013" y="363794"/>
            <a:ext cx="54713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TECHNICAL APPROACH     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E5A0C0-6C42-8F98-3E04-8342E65060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3580" y="1500"/>
            <a:ext cx="1726356" cy="81515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6492874"/>
            <a:ext cx="12191999" cy="365126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439918" y="-226735"/>
            <a:ext cx="10972800" cy="1143000"/>
          </a:xfrm>
        </p:spPr>
        <p:txBody>
          <a:bodyPr/>
          <a:lstStyle/>
          <a:p>
            <a:pPr eaLnBrk="1" hangingPunct="1"/>
            <a:r>
              <a:rPr lang="en-US" sz="28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494000" y="6492875"/>
            <a:ext cx="3204000" cy="365125"/>
          </a:xfrm>
        </p:spPr>
        <p:txBody>
          <a:bodyPr/>
          <a:lstStyle/>
          <a:p>
            <a:pPr lvl="0">
              <a:defRPr/>
            </a:pPr>
            <a:r>
              <a:rPr lang="en-US" sz="180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@BN - </a:t>
            </a:r>
            <a:r>
              <a:rPr lang="en-US" sz="1800" err="1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BidNova</a:t>
            </a:r>
            <a:endParaRPr lang="en-US" sz="180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9678" y="67488"/>
            <a:ext cx="1212916" cy="572716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92BA3E1-3705-A13C-C8B7-1869CA947A38}"/>
              </a:ext>
            </a:extLst>
          </p:cNvPr>
          <p:cNvSpPr/>
          <p:nvPr/>
        </p:nvSpPr>
        <p:spPr>
          <a:xfrm>
            <a:off x="263951" y="660807"/>
            <a:ext cx="5656082" cy="28657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u="sng">
                <a:solidFill>
                  <a:srgbClr val="01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FEASIBILITY:</a:t>
            </a:r>
          </a:p>
          <a:p>
            <a:endParaRPr lang="en-IN" sz="14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Technical:</a:t>
            </a:r>
            <a:r>
              <a:rPr lang="en-IN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Uses proven technologies — React, </a:t>
            </a:r>
            <a:r>
              <a:rPr lang="en-IN" sz="140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IN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PostgreSQL, OCR, LLM, RAG &amp; ML.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AI:</a:t>
            </a:r>
            <a:r>
              <a:rPr lang="en-IN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Reads tender documents, extracts requirements and matches them with submitted documents.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Integration:</a:t>
            </a:r>
            <a:r>
              <a:rPr lang="en-IN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Uses authorised government APIs where available; mock APIs for the prototype.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Security:</a:t>
            </a:r>
            <a:r>
              <a:rPr lang="en-IN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JWT, role-based access, encryption and audit logs protect procurement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Human Oversight:</a:t>
            </a:r>
            <a:r>
              <a:rPr lang="en-IN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AI assists with verification; </a:t>
            </a:r>
            <a:r>
              <a:rPr lang="en-IN" sz="1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decisions stay with the Procurement Officer.</a:t>
            </a:r>
            <a:endParaRPr lang="en-IN" sz="1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6FB6364-AEA1-8771-122A-BF1936697553}"/>
              </a:ext>
            </a:extLst>
          </p:cNvPr>
          <p:cNvSpPr/>
          <p:nvPr/>
        </p:nvSpPr>
        <p:spPr>
          <a:xfrm>
            <a:off x="6271969" y="640205"/>
            <a:ext cx="5480113" cy="288635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b="1" u="sng">
                <a:solidFill>
                  <a:srgbClr val="01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VIABILITY:</a:t>
            </a:r>
          </a:p>
          <a:p>
            <a:endParaRPr lang="en-IN" sz="1600" b="1">
              <a:solidFill>
                <a:srgbClr val="01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>
                <a:solidFill>
                  <a:srgbClr val="01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Operational:</a:t>
            </a:r>
            <a:r>
              <a:rPr lang="en-IN" sz="1600">
                <a:solidFill>
                  <a:srgbClr val="01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Reduces manual document checking and saves 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>
                <a:solidFill>
                  <a:srgbClr val="01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Economic:</a:t>
            </a:r>
            <a:r>
              <a:rPr lang="en-IN" sz="1600">
                <a:solidFill>
                  <a:srgbClr val="01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Cuts repetitive work and improves evaluation efficiency.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>
                <a:solidFill>
                  <a:srgbClr val="01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Scalable:</a:t>
            </a:r>
            <a:r>
              <a:rPr lang="en-IN" sz="1600">
                <a:solidFill>
                  <a:srgbClr val="01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Can support new departments, tender types and compliance checks.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>
                <a:solidFill>
                  <a:srgbClr val="01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Standardised:</a:t>
            </a:r>
            <a:r>
              <a:rPr lang="en-IN" sz="1600">
                <a:solidFill>
                  <a:srgbClr val="01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Provides one consistent verification process.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>
                <a:solidFill>
                  <a:srgbClr val="01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Auditable:</a:t>
            </a:r>
            <a:r>
              <a:rPr lang="en-IN" sz="1600">
                <a:solidFill>
                  <a:srgbClr val="01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Stores evidence, sources and verification history.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079C0C9-A72D-E7DA-C6D6-1F694DD32B92}"/>
              </a:ext>
            </a:extLst>
          </p:cNvPr>
          <p:cNvSpPr/>
          <p:nvPr/>
        </p:nvSpPr>
        <p:spPr>
          <a:xfrm>
            <a:off x="263951" y="3714160"/>
            <a:ext cx="11613822" cy="264219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5D8174-0815-2A3C-F4AF-5A69040646F6}"/>
              </a:ext>
            </a:extLst>
          </p:cNvPr>
          <p:cNvSpPr txBox="1"/>
          <p:nvPr/>
        </p:nvSpPr>
        <p:spPr>
          <a:xfrm>
            <a:off x="400640" y="3630552"/>
            <a:ext cx="5656082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b="1" u="sng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TECHNICAL CHALLENGES &amp; MITIGATION:</a:t>
            </a:r>
            <a:endParaRPr lang="en-IN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1.Government API Availability</a:t>
            </a:r>
            <a:br>
              <a:rPr lang="en-IN" sz="14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Risk :</a:t>
            </a:r>
            <a:r>
              <a:rPr lang="en-IN" sz="1400">
                <a:latin typeface="Times New Roman" panose="02020603050405020304" pitchFamily="18" charset="0"/>
                <a:cs typeface="Times New Roman" panose="02020603050405020304" pitchFamily="18" charset="0"/>
              </a:rPr>
              <a:t> Some government sources may not provide a usable public API.</a:t>
            </a:r>
            <a:br>
              <a:rPr lang="en-IN" sz="14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Mitigation :</a:t>
            </a:r>
            <a:r>
              <a:rPr lang="en-IN" sz="1400">
                <a:latin typeface="Times New Roman" panose="02020603050405020304" pitchFamily="18" charset="0"/>
                <a:cs typeface="Times New Roman" panose="02020603050405020304" pitchFamily="18" charset="0"/>
              </a:rPr>
              <a:t> Use official/authorised integrations where possible and </a:t>
            </a:r>
            <a:r>
              <a:rPr lang="en-IN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mock APIs during the prototype</a:t>
            </a:r>
            <a:r>
              <a:rPr lang="en-IN" sz="14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2.Poor-Quality Documents</a:t>
            </a:r>
            <a:br>
              <a:rPr lang="en-IN" sz="14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Risk :</a:t>
            </a:r>
            <a:r>
              <a:rPr lang="en-IN" sz="1400">
                <a:latin typeface="Times New Roman" panose="02020603050405020304" pitchFamily="18" charset="0"/>
                <a:cs typeface="Times New Roman" panose="02020603050405020304" pitchFamily="18" charset="0"/>
              </a:rPr>
              <a:t> Blurry or scanned documents can cause OCR mistakes.</a:t>
            </a:r>
            <a:br>
              <a:rPr lang="en-IN" sz="14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Mitigation :</a:t>
            </a:r>
            <a:r>
              <a:rPr lang="en-IN" sz="1400">
                <a:latin typeface="Times New Roman" panose="02020603050405020304" pitchFamily="18" charset="0"/>
                <a:cs typeface="Times New Roman" panose="02020603050405020304" pitchFamily="18" charset="0"/>
              </a:rPr>
              <a:t> Use </a:t>
            </a:r>
            <a:r>
              <a:rPr lang="en-IN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image preprocessing, OCR confidence checks and human verification</a:t>
            </a:r>
            <a:r>
              <a:rPr lang="en-IN" sz="14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E5038EC-79CC-4FA3-C68B-4AF5862D9AD5}"/>
              </a:ext>
            </a:extLst>
          </p:cNvPr>
          <p:cNvSpPr txBox="1"/>
          <p:nvPr/>
        </p:nvSpPr>
        <p:spPr>
          <a:xfrm>
            <a:off x="6193410" y="3883844"/>
            <a:ext cx="5558672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3.Company Name Confusion</a:t>
            </a:r>
            <a:br>
              <a:rPr lang="en-IN" sz="16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Risk :</a:t>
            </a:r>
            <a:r>
              <a:rPr lang="en-IN" sz="1400">
                <a:latin typeface="Times New Roman" panose="02020603050405020304" pitchFamily="18" charset="0"/>
                <a:cs typeface="Times New Roman" panose="02020603050405020304" pitchFamily="18" charset="0"/>
              </a:rPr>
              <a:t> Two companies may have similar names, which can lead to incorrect matching.</a:t>
            </a:r>
            <a:br>
              <a:rPr lang="en-IN" sz="14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Mitigation :</a:t>
            </a:r>
            <a:r>
              <a:rPr lang="en-IN" sz="1400">
                <a:latin typeface="Times New Roman" panose="02020603050405020304" pitchFamily="18" charset="0"/>
                <a:cs typeface="Times New Roman" panose="02020603050405020304" pitchFamily="18" charset="0"/>
              </a:rPr>
              <a:t> Verify using </a:t>
            </a:r>
            <a:r>
              <a:rPr lang="en-IN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GSTIN, PAN, CIN and other unique identifiers</a:t>
            </a:r>
            <a:r>
              <a:rPr lang="en-IN" sz="14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sz="1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4.Changing Tender Requirements</a:t>
            </a:r>
            <a:br>
              <a:rPr lang="en-IN" sz="14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Risk :</a:t>
            </a:r>
            <a:r>
              <a:rPr lang="en-IN" sz="1400">
                <a:latin typeface="Times New Roman" panose="02020603050405020304" pitchFamily="18" charset="0"/>
                <a:cs typeface="Times New Roman" panose="02020603050405020304" pitchFamily="18" charset="0"/>
              </a:rPr>
              <a:t> Requirements can differ from one tender to another.</a:t>
            </a:r>
            <a:br>
              <a:rPr lang="en-IN" sz="14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Mitigation :</a:t>
            </a:r>
            <a:r>
              <a:rPr lang="en-IN" sz="1400">
                <a:latin typeface="Times New Roman" panose="02020603050405020304" pitchFamily="18" charset="0"/>
                <a:cs typeface="Times New Roman" panose="02020603050405020304" pitchFamily="18" charset="0"/>
              </a:rPr>
              <a:t> Extract requirements dynamically and keep the </a:t>
            </a:r>
            <a:r>
              <a:rPr lang="en-IN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compliance rules configurable</a:t>
            </a:r>
            <a:r>
              <a:rPr lang="en-IN" sz="14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sz="14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6E924C-3B91-3BAC-2161-C6A0C59266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845" y="87946"/>
            <a:ext cx="809932" cy="513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06951" y="-28973"/>
            <a:ext cx="10972800" cy="1143000"/>
          </a:xfrm>
        </p:spPr>
        <p:txBody>
          <a:bodyPr/>
          <a:lstStyle/>
          <a:p>
            <a:pPr eaLnBrk="1" hangingPunct="1"/>
            <a:r>
              <a:rPr lang="en-US" sz="28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329773" y="1143954"/>
            <a:ext cx="6904147" cy="2462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/>
            <a:r>
              <a:rPr lang="en-IN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Procurement Efficiency:</a:t>
            </a:r>
            <a:r>
              <a:rPr lang="en-IN" sz="1400">
                <a:latin typeface="Times New Roman" panose="02020603050405020304" pitchFamily="18" charset="0"/>
                <a:cs typeface="Times New Roman" panose="02020603050405020304" pitchFamily="18" charset="0"/>
              </a:rPr>
              <a:t> Automated verification of bidder documents and government records can significantly reduce repetitive manual verification effort and speed up tender evaluation.</a:t>
            </a:r>
          </a:p>
          <a:p>
            <a:pPr algn="just"/>
            <a:r>
              <a:rPr lang="en-IN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• Improved Compliance &amp; Accuracy:</a:t>
            </a:r>
            <a:r>
              <a:rPr lang="en-IN" sz="1400">
                <a:latin typeface="Times New Roman" panose="02020603050405020304" pitchFamily="18" charset="0"/>
                <a:cs typeface="Times New Roman" panose="02020603050405020304" pitchFamily="18" charset="0"/>
              </a:rPr>
              <a:t> AI-based extraction and cross-verification help identify missing documents, data mismatches and potential compliance issues, reducing human errors and inconsistencies.</a:t>
            </a:r>
          </a:p>
          <a:p>
            <a:pPr algn="just"/>
            <a:r>
              <a:rPr lang="en-IN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• Transparency &amp; Governance:</a:t>
            </a:r>
            <a:r>
              <a:rPr lang="en-IN" sz="1400">
                <a:latin typeface="Times New Roman" panose="02020603050405020304" pitchFamily="18" charset="0"/>
                <a:cs typeface="Times New Roman" panose="02020603050405020304" pitchFamily="18" charset="0"/>
              </a:rPr>
              <a:t> Evidence-based verification, compliance scores and complete audit trails provide procurement officers with a transparent and traceable basis for review.</a:t>
            </a:r>
          </a:p>
          <a:p>
            <a:pPr algn="just"/>
            <a:r>
              <a:rPr lang="en-IN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• Better Risk Identification:</a:t>
            </a:r>
            <a:r>
              <a:rPr lang="en-IN" sz="1400">
                <a:latin typeface="Times New Roman" panose="02020603050405020304" pitchFamily="18" charset="0"/>
                <a:cs typeface="Times New Roman" panose="02020603050405020304" pitchFamily="18" charset="0"/>
              </a:rPr>
              <a:t> Early detection of discrepancies, missing requirements and potential blacklisting/debarment issues enables faster and more informed scrutiny of bidders.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510762" y="644359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sz="180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@BN - </a:t>
            </a:r>
            <a:r>
              <a:rPr lang="en-US" sz="1800" err="1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BidNova</a:t>
            </a:r>
            <a:endParaRPr lang="en-US" sz="180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F0B7476-FA65-7BAF-436C-7935B3193D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5360" y="1144500"/>
            <a:ext cx="4536867" cy="287886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3E271BD-341F-20F4-CCD7-2E652E953868}"/>
              </a:ext>
            </a:extLst>
          </p:cNvPr>
          <p:cNvSpPr/>
          <p:nvPr/>
        </p:nvSpPr>
        <p:spPr>
          <a:xfrm>
            <a:off x="162065" y="3654746"/>
            <a:ext cx="7071855" cy="36861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OUR PLATFORM WORKS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64C2867-AE82-1BDC-0CE3-8C6F644C8A29}"/>
              </a:ext>
            </a:extLst>
          </p:cNvPr>
          <p:cNvSpPr/>
          <p:nvPr/>
        </p:nvSpPr>
        <p:spPr>
          <a:xfrm>
            <a:off x="162065" y="4116632"/>
            <a:ext cx="3739376" cy="216852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D86A71B-6FD5-FC09-C08E-5E97CCA4099E}"/>
              </a:ext>
            </a:extLst>
          </p:cNvPr>
          <p:cNvSpPr/>
          <p:nvPr/>
        </p:nvSpPr>
        <p:spPr>
          <a:xfrm>
            <a:off x="3991213" y="4116632"/>
            <a:ext cx="3860987" cy="216852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04EC76-32C0-3BCE-2715-801ACB0EE272}"/>
              </a:ext>
            </a:extLst>
          </p:cNvPr>
          <p:cNvSpPr/>
          <p:nvPr/>
        </p:nvSpPr>
        <p:spPr>
          <a:xfrm>
            <a:off x="8055708" y="4156313"/>
            <a:ext cx="3974228" cy="2128841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F6F8F58-20F9-3356-DF76-E63F1BA01FDF}"/>
              </a:ext>
            </a:extLst>
          </p:cNvPr>
          <p:cNvSpPr txBox="1"/>
          <p:nvPr/>
        </p:nvSpPr>
        <p:spPr>
          <a:xfrm>
            <a:off x="162065" y="4118902"/>
            <a:ext cx="3739376" cy="338554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IN" sz="1600">
                <a:latin typeface="Times New Roman" panose="02020603050405020304" pitchFamily="18" charset="0"/>
                <a:cs typeface="Times New Roman" panose="02020603050405020304" pitchFamily="18" charset="0"/>
              </a:rPr>
              <a:t>MODE 1: DOCUMENT VERIFICATION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6A81F4-8EB3-A780-DD08-CFBA071286FA}"/>
              </a:ext>
            </a:extLst>
          </p:cNvPr>
          <p:cNvSpPr txBox="1"/>
          <p:nvPr/>
        </p:nvSpPr>
        <p:spPr>
          <a:xfrm>
            <a:off x="3989546" y="4134290"/>
            <a:ext cx="3860987" cy="307777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IN" sz="1400">
                <a:latin typeface="Times New Roman" panose="02020603050405020304" pitchFamily="18" charset="0"/>
                <a:cs typeface="Times New Roman" panose="02020603050405020304" pitchFamily="18" charset="0"/>
              </a:rPr>
              <a:t>MODE 2: PORTAL CROSS-VERIFICATION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73ED69A-1A80-77F6-5A64-7D09057EB588}"/>
              </a:ext>
            </a:extLst>
          </p:cNvPr>
          <p:cNvSpPr txBox="1"/>
          <p:nvPr/>
        </p:nvSpPr>
        <p:spPr>
          <a:xfrm>
            <a:off x="8055708" y="4156313"/>
            <a:ext cx="3972561" cy="338554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IN" sz="1600">
                <a:latin typeface="Times New Roman" panose="02020603050405020304" pitchFamily="18" charset="0"/>
                <a:cs typeface="Times New Roman" panose="02020603050405020304" pitchFamily="18" charset="0"/>
              </a:rPr>
              <a:t>MODE 3: AI COMPLIANCE ASSESSMENT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F2BE76E-BE93-6A74-7CA7-B5AF2B47A6B7}"/>
              </a:ext>
            </a:extLst>
          </p:cNvPr>
          <p:cNvSpPr txBox="1"/>
          <p:nvPr/>
        </p:nvSpPr>
        <p:spPr>
          <a:xfrm>
            <a:off x="206951" y="4424116"/>
            <a:ext cx="373937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For:</a:t>
            </a:r>
            <a:r>
              <a:rPr lang="en-IN" sz="1400">
                <a:latin typeface="Times New Roman" panose="02020603050405020304" pitchFamily="18" charset="0"/>
                <a:cs typeface="Times New Roman" panose="02020603050405020304" pitchFamily="18" charset="0"/>
              </a:rPr>
              <a:t> Bidder documents submitted through the platform</a:t>
            </a:r>
          </a:p>
          <a:p>
            <a:r>
              <a:rPr lang="en-IN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Process:</a:t>
            </a:r>
            <a:br>
              <a:rPr lang="en-IN" sz="14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>
                <a:latin typeface="Times New Roman" panose="02020603050405020304" pitchFamily="18" charset="0"/>
                <a:cs typeface="Times New Roman" panose="02020603050405020304" pitchFamily="18" charset="0"/>
              </a:rPr>
              <a:t>Upload Documents → AI/OCR Extraction → Information Validation → Document Status</a:t>
            </a:r>
          </a:p>
          <a:p>
            <a:r>
              <a:rPr lang="en-IN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Time:</a:t>
            </a:r>
            <a:r>
              <a:rPr lang="en-IN" sz="1400">
                <a:latin typeface="Times New Roman" panose="02020603050405020304" pitchFamily="18" charset="0"/>
                <a:cs typeface="Times New Roman" panose="02020603050405020304" pitchFamily="18" charset="0"/>
              </a:rPr>
              <a:t> Seconds–Minutes*</a:t>
            </a:r>
          </a:p>
          <a:p>
            <a:r>
              <a:rPr lang="en-IN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Best For:</a:t>
            </a:r>
            <a:r>
              <a:rPr lang="en-IN" sz="1400">
                <a:latin typeface="Times New Roman" panose="02020603050405020304" pitchFamily="18" charset="0"/>
                <a:cs typeface="Times New Roman" panose="02020603050405020304" pitchFamily="18" charset="0"/>
              </a:rPr>
              <a:t> GST, PAN, Udyam, OEM authorization, certificates and declarations</a:t>
            </a:r>
          </a:p>
          <a:p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C083047-747B-0264-8374-8691FCF2FD5D}"/>
              </a:ext>
            </a:extLst>
          </p:cNvPr>
          <p:cNvSpPr txBox="1"/>
          <p:nvPr/>
        </p:nvSpPr>
        <p:spPr>
          <a:xfrm>
            <a:off x="3991213" y="4455319"/>
            <a:ext cx="387312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For:</a:t>
            </a:r>
            <a:r>
              <a:rPr lang="en-IN" sz="1200">
                <a:latin typeface="Times New Roman" panose="02020603050405020304" pitchFamily="18" charset="0"/>
                <a:cs typeface="Times New Roman" panose="02020603050405020304" pitchFamily="18" charset="0"/>
              </a:rPr>
              <a:t> Information that needs verification against authorized government sources</a:t>
            </a:r>
          </a:p>
          <a:p>
            <a:r>
              <a:rPr lang="en-IN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Process:</a:t>
            </a:r>
            <a:br>
              <a:rPr lang="en-IN" sz="12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200">
                <a:latin typeface="Times New Roman" panose="02020603050405020304" pitchFamily="18" charset="0"/>
                <a:cs typeface="Times New Roman" panose="02020603050405020304" pitchFamily="18" charset="0"/>
              </a:rPr>
              <a:t>Extract Bidder Details → Query Authorized Source → Retrieve Data → Cross-Check → Generate Evidence</a:t>
            </a:r>
          </a:p>
          <a:p>
            <a:r>
              <a:rPr lang="en-IN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Time:</a:t>
            </a:r>
            <a:r>
              <a:rPr lang="en-IN" sz="1200">
                <a:latin typeface="Times New Roman" panose="02020603050405020304" pitchFamily="18" charset="0"/>
                <a:cs typeface="Times New Roman" panose="02020603050405020304" pitchFamily="18" charset="0"/>
              </a:rPr>
              <a:t> Minutes*</a:t>
            </a:r>
          </a:p>
          <a:p>
            <a:r>
              <a:rPr lang="en-IN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Best For:</a:t>
            </a:r>
            <a:r>
              <a:rPr lang="en-IN" sz="1200">
                <a:latin typeface="Times New Roman" panose="02020603050405020304" pitchFamily="18" charset="0"/>
                <a:cs typeface="Times New Roman" panose="02020603050405020304" pitchFamily="18" charset="0"/>
              </a:rPr>
              <a:t> GST, Udyam/MSME, PAN/IT, MCA, EPFO/ESIC, Startup India, NSIC and other applicable sources</a:t>
            </a:r>
          </a:p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A743577-7D3E-6702-FAE6-9DF7F00746C1}"/>
              </a:ext>
            </a:extLst>
          </p:cNvPr>
          <p:cNvSpPr txBox="1"/>
          <p:nvPr/>
        </p:nvSpPr>
        <p:spPr>
          <a:xfrm>
            <a:off x="8055708" y="4524794"/>
            <a:ext cx="397422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For:</a:t>
            </a:r>
            <a:r>
              <a:rPr lang="en-IN" sz="1200">
                <a:latin typeface="Times New Roman" panose="02020603050405020304" pitchFamily="18" charset="0"/>
                <a:cs typeface="Times New Roman" panose="02020603050405020304" pitchFamily="18" charset="0"/>
              </a:rPr>
              <a:t> Complete tender-level eligibility assessment</a:t>
            </a:r>
          </a:p>
          <a:p>
            <a:r>
              <a:rPr lang="en-IN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Process:</a:t>
            </a:r>
            <a:br>
              <a:rPr lang="en-IN" sz="12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200">
                <a:latin typeface="Times New Roman" panose="02020603050405020304" pitchFamily="18" charset="0"/>
                <a:cs typeface="Times New Roman" panose="02020603050405020304" pitchFamily="18" charset="0"/>
              </a:rPr>
              <a:t>Portal + Documents → Apply Tender Rules → Detect Gaps → Compliance Score → Risk Level → AI Recommendation</a:t>
            </a:r>
          </a:p>
          <a:p>
            <a:r>
              <a:rPr lang="en-IN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br>
              <a:rPr lang="en-IN" sz="12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Compliance Score + Risk Level + Pending Requirements + Evidence</a:t>
            </a:r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Best For:</a:t>
            </a:r>
            <a:r>
              <a:rPr lang="en-IN" sz="1200">
                <a:latin typeface="Times New Roman" panose="02020603050405020304" pitchFamily="18" charset="0"/>
                <a:cs typeface="Times New Roman" panose="02020603050405020304" pitchFamily="18" charset="0"/>
              </a:rPr>
              <a:t> Final procurement officer review and decision support</a:t>
            </a:r>
          </a:p>
          <a:p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E98239E-5564-AE8D-AB41-DFE6959F58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437" y="145740"/>
            <a:ext cx="809932" cy="513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707922" y="-177460"/>
            <a:ext cx="10972800" cy="1143000"/>
          </a:xfrm>
        </p:spPr>
        <p:txBody>
          <a:bodyPr/>
          <a:lstStyle/>
          <a:p>
            <a:pPr eaLnBrk="1" hangingPunct="1"/>
            <a:r>
              <a:rPr lang="en-US" sz="28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493999" y="6492875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sz="180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@BN - </a:t>
            </a:r>
            <a:r>
              <a:rPr lang="en-US" sz="1800" err="1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BidNova</a:t>
            </a:r>
            <a:endParaRPr lang="en-US" sz="180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7266" y="1500"/>
            <a:ext cx="1662669" cy="785081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8AAD95D-F1C7-B237-5A7E-444D0C53940A}"/>
              </a:ext>
            </a:extLst>
          </p:cNvPr>
          <p:cNvSpPr/>
          <p:nvPr/>
        </p:nvSpPr>
        <p:spPr>
          <a:xfrm>
            <a:off x="255638" y="786582"/>
            <a:ext cx="11425084" cy="174027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➢ </a:t>
            </a:r>
            <a:r>
              <a:rPr lang="en-IN" sz="1400" b="1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GeM</a:t>
            </a:r>
            <a:r>
              <a:rPr lang="en-IN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Government e-Marketplace is India’s national public procurement platform for transparent and efficient government procurement.</a:t>
            </a:r>
            <a:br>
              <a:rPr lang="en-IN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IN" sz="1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Full Details :</a:t>
            </a:r>
            <a:r>
              <a:rPr lang="en-IN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GeM</a:t>
            </a:r>
            <a:r>
              <a:rPr lang="en-IN" sz="140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Handbook</a:t>
            </a:r>
            <a:endParaRPr lang="en-IN" sz="140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➢ </a:t>
            </a:r>
            <a:r>
              <a:rPr lang="en-IN" sz="1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in Procurement</a:t>
            </a:r>
            <a:r>
              <a:rPr lang="en-IN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Research shows that AI can support supplier evaluation, compliance screening and risk assessment while keeping humans   </a:t>
            </a:r>
          </a:p>
          <a:p>
            <a:r>
              <a:rPr lang="en-IN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involved in final decisions.</a:t>
            </a:r>
            <a:br>
              <a:rPr lang="en-IN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IN" sz="1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Links :</a:t>
            </a:r>
            <a:r>
              <a:rPr lang="en-IN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Scientific Reports</a:t>
            </a:r>
            <a:endParaRPr lang="en-IN" sz="140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➢ </a:t>
            </a:r>
            <a:r>
              <a:rPr lang="en-IN" sz="1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Transparent Procurement</a:t>
            </a:r>
            <a:r>
              <a:rPr lang="en-IN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Government procurement guidelines emphasize consistency, clarity, openness and transparency during bidder evaluation.</a:t>
            </a:r>
            <a:br>
              <a:rPr lang="en-IN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IN" sz="1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Links :</a:t>
            </a:r>
            <a:r>
              <a:rPr lang="en-IN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Department of Expenditure</a:t>
            </a:r>
            <a:r>
              <a:rPr lang="en-IN" sz="140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IN" sz="140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GePNIC</a:t>
            </a:r>
            <a:endParaRPr lang="en-IN" sz="140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1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3990D4E-D045-16CC-9132-7C276E2F0925}"/>
              </a:ext>
            </a:extLst>
          </p:cNvPr>
          <p:cNvSpPr/>
          <p:nvPr/>
        </p:nvSpPr>
        <p:spPr>
          <a:xfrm>
            <a:off x="322007" y="2671020"/>
            <a:ext cx="4554794" cy="1566683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SOLUTIONS ALREADY EXIST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Most platforms focus on tender discovery, not complete bidder compliance verification.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AVAILABLE PLATFORMS :</a:t>
            </a:r>
            <a:r>
              <a:rPr lang="en-IN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u="sng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GeM</a:t>
            </a:r>
            <a:r>
              <a:rPr lang="en-IN" sz="1400" u="sng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AI </a:t>
            </a:r>
            <a:r>
              <a:rPr lang="en-IN" sz="140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en-IN" sz="1400" u="sng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GemSetu</a:t>
            </a:r>
            <a:r>
              <a:rPr lang="en-IN" sz="140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IN" sz="1400" u="sng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Bid India</a:t>
            </a:r>
            <a:r>
              <a:rPr lang="en-IN" sz="140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IN" sz="1400" u="sng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GemEdge</a:t>
            </a:r>
            <a:r>
              <a:rPr lang="en-IN" sz="1400" u="sng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endParaRPr lang="en-IN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BEA2C69-4890-B015-F8A1-E53AC4811D0D}"/>
              </a:ext>
            </a:extLst>
          </p:cNvPr>
          <p:cNvSpPr/>
          <p:nvPr/>
        </p:nvSpPr>
        <p:spPr>
          <a:xfrm>
            <a:off x="5633882" y="2672237"/>
            <a:ext cx="3937525" cy="1560205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SOLUTION STANDS OUT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One-Click</a:t>
            </a: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Easy compliance verification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Tender-Aware</a:t>
            </a: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Checks tender requirements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 Score</a:t>
            </a: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Identifies compliance risks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Safe &amp; Verified</a:t>
            </a: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Evidence-based verification</a:t>
            </a:r>
          </a:p>
          <a:p>
            <a:pPr algn="ctr"/>
            <a:endParaRPr lang="en-IN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D3A5AE7-945A-CABE-D6D8-B9E5C335F56C}"/>
              </a:ext>
            </a:extLst>
          </p:cNvPr>
          <p:cNvSpPr/>
          <p:nvPr/>
        </p:nvSpPr>
        <p:spPr>
          <a:xfrm>
            <a:off x="5034115" y="3320786"/>
            <a:ext cx="442453" cy="267149"/>
          </a:xfrm>
          <a:prstGeom prst="rightArrow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BFA3832-F68A-1536-4A47-DCFC5525BB5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9437" y="137222"/>
            <a:ext cx="809932" cy="513638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E28DE09-405D-4F97-CCB2-E53B630C24AF}"/>
              </a:ext>
            </a:extLst>
          </p:cNvPr>
          <p:cNvSpPr/>
          <p:nvPr/>
        </p:nvSpPr>
        <p:spPr>
          <a:xfrm>
            <a:off x="322006" y="4310464"/>
            <a:ext cx="11358716" cy="1682298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0D14D4-87A5-F8FC-607E-4A44E73565B5}"/>
              </a:ext>
            </a:extLst>
          </p:cNvPr>
          <p:cNvSpPr txBox="1"/>
          <p:nvPr/>
        </p:nvSpPr>
        <p:spPr>
          <a:xfrm>
            <a:off x="511278" y="4460896"/>
            <a:ext cx="288216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RESOURCES</a:t>
            </a:r>
          </a:p>
          <a:p>
            <a:pPr>
              <a:lnSpc>
                <a:spcPct val="150000"/>
              </a:lnSpc>
            </a:pP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Prototype link: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  <a:hlinkClick r:id="rId9"/>
              </a:rPr>
              <a:t>Prototype</a:t>
            </a: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Ai model link: </a:t>
            </a:r>
            <a:r>
              <a:rPr lang="en-US" sz="1400" err="1">
                <a:latin typeface="Times New Roman" panose="02020603050405020304" pitchFamily="18" charset="0"/>
                <a:cs typeface="Times New Roman" panose="02020603050405020304" pitchFamily="18" charset="0"/>
                <a:hlinkClick r:id="rId10"/>
              </a:rPr>
              <a:t>AI_Model</a:t>
            </a: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Dataset link : 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  <a:hlinkClick r:id="rId11"/>
              </a:rPr>
              <a:t>Dataset Link</a:t>
            </a: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D3B5B1C-E5D2-8649-592B-151904207A4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40063" y="4375816"/>
            <a:ext cx="2144196" cy="167593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9167DAF-2536-F213-3B83-6E9A02A4AB5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58783" y="4368964"/>
            <a:ext cx="2144197" cy="167593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D632232-078D-D5B1-B271-7A41171936B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342580" y="4368964"/>
            <a:ext cx="2049371" cy="1675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1223</Words>
  <Application>Microsoft Office PowerPoint</Application>
  <PresentationFormat>Widescreen</PresentationFormat>
  <Paragraphs>185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BIDVERIFY (AI-Powered Compliance for Smarter GeM Procurement)</vt:lpstr>
      <vt:lpstr>PowerPoint Presentation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Karthika R R</cp:lastModifiedBy>
  <cp:revision>3</cp:revision>
  <dcterms:created xsi:type="dcterms:W3CDTF">2013-12-12T18:46:50Z</dcterms:created>
  <dcterms:modified xsi:type="dcterms:W3CDTF">2026-09-28T08:44:05Z</dcterms:modified>
  <cp:category/>
</cp:coreProperties>
</file>